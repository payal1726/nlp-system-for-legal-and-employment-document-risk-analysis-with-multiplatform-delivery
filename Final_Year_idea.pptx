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BD8955-D69B-431D-84CB-3994A85FFAA0}" v="51" dt="2026-07-03T13:35:53.52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1" d="100"/>
          <a:sy n="91" d="100"/>
        </p:scale>
        <p:origin x="341"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yal Shinde" userId="f6b038fdb6c877ec" providerId="LiveId" clId="{CF34941C-0E77-49AA-9933-61CFA73AFCEA}"/>
    <pc:docChg chg="undo custSel modSld">
      <pc:chgData name="Payal Shinde" userId="f6b038fdb6c877ec" providerId="LiveId" clId="{CF34941C-0E77-49AA-9933-61CFA73AFCEA}" dt="2026-07-03T13:37:59.571" v="574" actId="207"/>
      <pc:docMkLst>
        <pc:docMk/>
      </pc:docMkLst>
      <pc:sldChg chg="addSp modSp mod">
        <pc:chgData name="Payal Shinde" userId="f6b038fdb6c877ec" providerId="LiveId" clId="{CF34941C-0E77-49AA-9933-61CFA73AFCEA}" dt="2026-07-03T13:37:59.571" v="574" actId="207"/>
        <pc:sldMkLst>
          <pc:docMk/>
          <pc:sldMk cId="0" sldId="256"/>
        </pc:sldMkLst>
        <pc:spChg chg="mod">
          <ac:chgData name="Payal Shinde" userId="f6b038fdb6c877ec" providerId="LiveId" clId="{CF34941C-0E77-49AA-9933-61CFA73AFCEA}" dt="2026-07-03T13:37:59.571" v="574" actId="207"/>
          <ac:spMkLst>
            <pc:docMk/>
            <pc:sldMk cId="0" sldId="256"/>
            <ac:spMk id="8" creationId="{00000000-0000-0000-0000-000000000000}"/>
          </ac:spMkLst>
        </pc:spChg>
        <pc:spChg chg="add mod">
          <ac:chgData name="Payal Shinde" userId="f6b038fdb6c877ec" providerId="LiveId" clId="{CF34941C-0E77-49AA-9933-61CFA73AFCEA}" dt="2026-07-03T12:55:34.952" v="135" actId="113"/>
          <ac:spMkLst>
            <pc:docMk/>
            <pc:sldMk cId="0" sldId="256"/>
            <ac:spMk id="12" creationId="{8C0A12E3-A4B5-6ED7-59F0-440F121805ED}"/>
          </ac:spMkLst>
        </pc:spChg>
      </pc:sldChg>
      <pc:sldChg chg="delSp modSp mod">
        <pc:chgData name="Payal Shinde" userId="f6b038fdb6c877ec" providerId="LiveId" clId="{CF34941C-0E77-49AA-9933-61CFA73AFCEA}" dt="2026-07-03T12:57:45.440" v="148" actId="5793"/>
        <pc:sldMkLst>
          <pc:docMk/>
          <pc:sldMk cId="0" sldId="258"/>
        </pc:sldMkLst>
        <pc:spChg chg="del mod">
          <ac:chgData name="Payal Shinde" userId="f6b038fdb6c877ec" providerId="LiveId" clId="{CF34941C-0E77-49AA-9933-61CFA73AFCEA}" dt="2026-07-03T12:56:32.862" v="141"/>
          <ac:spMkLst>
            <pc:docMk/>
            <pc:sldMk cId="0" sldId="258"/>
            <ac:spMk id="3" creationId="{00000000-0000-0000-0000-000000000000}"/>
          </ac:spMkLst>
        </pc:spChg>
        <pc:spChg chg="mod">
          <ac:chgData name="Payal Shinde" userId="f6b038fdb6c877ec" providerId="LiveId" clId="{CF34941C-0E77-49AA-9933-61CFA73AFCEA}" dt="2026-07-03T12:57:45.440" v="148" actId="5793"/>
          <ac:spMkLst>
            <pc:docMk/>
            <pc:sldMk cId="0" sldId="258"/>
            <ac:spMk id="7" creationId="{69252161-8BA1-CF67-A717-7544EF9F742C}"/>
          </ac:spMkLst>
        </pc:spChg>
      </pc:sldChg>
      <pc:sldChg chg="modSp mod">
        <pc:chgData name="Payal Shinde" userId="f6b038fdb6c877ec" providerId="LiveId" clId="{CF34941C-0E77-49AA-9933-61CFA73AFCEA}" dt="2026-07-03T13:19:44.606" v="521" actId="255"/>
        <pc:sldMkLst>
          <pc:docMk/>
          <pc:sldMk cId="0" sldId="259"/>
        </pc:sldMkLst>
        <pc:spChg chg="mod">
          <ac:chgData name="Payal Shinde" userId="f6b038fdb6c877ec" providerId="LiveId" clId="{CF34941C-0E77-49AA-9933-61CFA73AFCEA}" dt="2026-07-03T13:19:44.606" v="521" actId="255"/>
          <ac:spMkLst>
            <pc:docMk/>
            <pc:sldMk cId="0" sldId="259"/>
            <ac:spMk id="10" creationId="{8BF037D6-A167-7598-8AA3-F74CD93D1795}"/>
          </ac:spMkLst>
        </pc:spChg>
      </pc:sldChg>
      <pc:sldChg chg="modSp mod">
        <pc:chgData name="Payal Shinde" userId="f6b038fdb6c877ec" providerId="LiveId" clId="{CF34941C-0E77-49AA-9933-61CFA73AFCEA}" dt="2026-07-03T13:03:41.223" v="179" actId="5793"/>
        <pc:sldMkLst>
          <pc:docMk/>
          <pc:sldMk cId="0" sldId="260"/>
        </pc:sldMkLst>
        <pc:spChg chg="mod">
          <ac:chgData name="Payal Shinde" userId="f6b038fdb6c877ec" providerId="LiveId" clId="{CF34941C-0E77-49AA-9933-61CFA73AFCEA}" dt="2026-07-03T13:03:41.223" v="179" actId="5793"/>
          <ac:spMkLst>
            <pc:docMk/>
            <pc:sldMk cId="0" sldId="260"/>
            <ac:spMk id="10" creationId="{72D89509-393C-5656-D7C7-5E42696FAB7B}"/>
          </ac:spMkLst>
        </pc:spChg>
      </pc:sldChg>
      <pc:sldChg chg="modSp mod">
        <pc:chgData name="Payal Shinde" userId="f6b038fdb6c877ec" providerId="LiveId" clId="{CF34941C-0E77-49AA-9933-61CFA73AFCEA}" dt="2026-07-03T13:01:52.075" v="166" actId="14100"/>
        <pc:sldMkLst>
          <pc:docMk/>
          <pc:sldMk cId="0" sldId="261"/>
        </pc:sldMkLst>
        <pc:spChg chg="mod">
          <ac:chgData name="Payal Shinde" userId="f6b038fdb6c877ec" providerId="LiveId" clId="{CF34941C-0E77-49AA-9933-61CFA73AFCEA}" dt="2026-07-03T13:01:52.075" v="166" actId="14100"/>
          <ac:spMkLst>
            <pc:docMk/>
            <pc:sldMk cId="0" sldId="261"/>
            <ac:spMk id="8" creationId="{00000000-0000-0000-0000-000000000000}"/>
          </ac:spMkLst>
        </pc:spChg>
      </pc:sldChg>
      <pc:sldChg chg="modSp mod">
        <pc:chgData name="Payal Shinde" userId="f6b038fdb6c877ec" providerId="LiveId" clId="{CF34941C-0E77-49AA-9933-61CFA73AFCEA}" dt="2026-07-03T13:24:44.068" v="541" actId="20577"/>
        <pc:sldMkLst>
          <pc:docMk/>
          <pc:sldMk cId="0" sldId="262"/>
        </pc:sldMkLst>
        <pc:graphicFrameChg chg="mod modGraphic">
          <ac:chgData name="Payal Shinde" userId="f6b038fdb6c877ec" providerId="LiveId" clId="{CF34941C-0E77-49AA-9933-61CFA73AFCEA}" dt="2026-07-03T13:24:44.068" v="541" actId="20577"/>
          <ac:graphicFrameMkLst>
            <pc:docMk/>
            <pc:sldMk cId="0" sldId="262"/>
            <ac:graphicFrameMk id="7" creationId="{00000000-0000-0000-0000-000000000000}"/>
          </ac:graphicFrameMkLst>
        </pc:graphicFrameChg>
      </pc:sldChg>
      <pc:sldChg chg="modSp mod">
        <pc:chgData name="Payal Shinde" userId="f6b038fdb6c877ec" providerId="LiveId" clId="{CF34941C-0E77-49AA-9933-61CFA73AFCEA}" dt="2026-07-03T13:37:27.850" v="572" actId="20577"/>
        <pc:sldMkLst>
          <pc:docMk/>
          <pc:sldMk cId="0" sldId="263"/>
        </pc:sldMkLst>
        <pc:graphicFrameChg chg="mod modGraphic">
          <ac:chgData name="Payal Shinde" userId="f6b038fdb6c877ec" providerId="LiveId" clId="{CF34941C-0E77-49AA-9933-61CFA73AFCEA}" dt="2026-07-03T13:37:27.850" v="572" actId="20577"/>
          <ac:graphicFrameMkLst>
            <pc:docMk/>
            <pc:sldMk cId="0" sldId="263"/>
            <ac:graphicFrameMk id="7" creationId="{00000000-0000-0000-0000-000000000000}"/>
          </ac:graphicFrameMkLst>
        </pc:graphicFrameChg>
      </pc:sldChg>
      <pc:sldChg chg="addSp delSp modSp mod">
        <pc:chgData name="Payal Shinde" userId="f6b038fdb6c877ec" providerId="LiveId" clId="{CF34941C-0E77-49AA-9933-61CFA73AFCEA}" dt="2026-07-03T13:09:25.775" v="213" actId="1076"/>
        <pc:sldMkLst>
          <pc:docMk/>
          <pc:sldMk cId="0" sldId="264"/>
        </pc:sldMkLst>
        <pc:spChg chg="mod">
          <ac:chgData name="Payal Shinde" userId="f6b038fdb6c877ec" providerId="LiveId" clId="{CF34941C-0E77-49AA-9933-61CFA73AFCEA}" dt="2026-07-03T13:09:25.775" v="213" actId="1076"/>
          <ac:spMkLst>
            <pc:docMk/>
            <pc:sldMk cId="0" sldId="264"/>
            <ac:spMk id="2" creationId="{00000000-0000-0000-0000-000000000000}"/>
          </ac:spMkLst>
        </pc:spChg>
        <pc:spChg chg="add del">
          <ac:chgData name="Payal Shinde" userId="f6b038fdb6c877ec" providerId="LiveId" clId="{CF34941C-0E77-49AA-9933-61CFA73AFCEA}" dt="2026-07-03T13:04:17.092" v="182" actId="22"/>
          <ac:spMkLst>
            <pc:docMk/>
            <pc:sldMk cId="0" sldId="264"/>
            <ac:spMk id="11" creationId="{6004CB15-B385-3B6E-9478-9AF7F74E2554}"/>
          </ac:spMkLst>
        </pc:spChg>
        <pc:spChg chg="add">
          <ac:chgData name="Payal Shinde" userId="f6b038fdb6c877ec" providerId="LiveId" clId="{CF34941C-0E77-49AA-9933-61CFA73AFCEA}" dt="2026-07-03T13:08:13.184" v="201"/>
          <ac:spMkLst>
            <pc:docMk/>
            <pc:sldMk cId="0" sldId="264"/>
            <ac:spMk id="15" creationId="{1FF6F193-F67F-F569-2220-FEBA1F219178}"/>
          </ac:spMkLst>
        </pc:spChg>
        <pc:picChg chg="del">
          <ac:chgData name="Payal Shinde" userId="f6b038fdb6c877ec" providerId="LiveId" clId="{CF34941C-0E77-49AA-9933-61CFA73AFCEA}" dt="2026-07-03T13:03:58.091" v="180" actId="478"/>
          <ac:picMkLst>
            <pc:docMk/>
            <pc:sldMk cId="0" sldId="264"/>
            <ac:picMk id="9" creationId="{437896BA-B362-BD39-1D25-408F0386D510}"/>
          </ac:picMkLst>
        </pc:picChg>
        <pc:picChg chg="add del mod modCrop">
          <ac:chgData name="Payal Shinde" userId="f6b038fdb6c877ec" providerId="LiveId" clId="{CF34941C-0E77-49AA-9933-61CFA73AFCEA}" dt="2026-07-03T13:05:16.294" v="199" actId="21"/>
          <ac:picMkLst>
            <pc:docMk/>
            <pc:sldMk cId="0" sldId="264"/>
            <ac:picMk id="13" creationId="{03E19882-BC45-5C0A-99E1-0E12004F208B}"/>
          </ac:picMkLst>
        </pc:picChg>
        <pc:picChg chg="add mod modCrop">
          <ac:chgData name="Payal Shinde" userId="f6b038fdb6c877ec" providerId="LiveId" clId="{CF34941C-0E77-49AA-9933-61CFA73AFCEA}" dt="2026-07-03T13:09:12.221" v="211" actId="1076"/>
          <ac:picMkLst>
            <pc:docMk/>
            <pc:sldMk cId="0" sldId="264"/>
            <ac:picMk id="17" creationId="{459C655F-DFFB-C610-66AD-99F50EB39F0D}"/>
          </ac:picMkLst>
        </pc:picChg>
      </pc:sldChg>
      <pc:sldChg chg="addSp delSp modSp mod">
        <pc:chgData name="Payal Shinde" userId="f6b038fdb6c877ec" providerId="LiveId" clId="{CF34941C-0E77-49AA-9933-61CFA73AFCEA}" dt="2026-07-03T13:16:50.042" v="458" actId="14100"/>
        <pc:sldMkLst>
          <pc:docMk/>
          <pc:sldMk cId="0" sldId="265"/>
        </pc:sldMkLst>
        <pc:spChg chg="add del mod">
          <ac:chgData name="Payal Shinde" userId="f6b038fdb6c877ec" providerId="LiveId" clId="{CF34941C-0E77-49AA-9933-61CFA73AFCEA}" dt="2026-07-03T13:10:09.417" v="218" actId="47"/>
          <ac:spMkLst>
            <pc:docMk/>
            <pc:sldMk cId="0" sldId="265"/>
            <ac:spMk id="8" creationId="{E6D50B1A-11E6-5CBE-C85E-2445B92DC3B8}"/>
          </ac:spMkLst>
        </pc:spChg>
        <pc:graphicFrameChg chg="add mod">
          <ac:chgData name="Payal Shinde" userId="f6b038fdb6c877ec" providerId="LiveId" clId="{CF34941C-0E77-49AA-9933-61CFA73AFCEA}" dt="2026-07-03T13:10:07.844" v="215"/>
          <ac:graphicFrameMkLst>
            <pc:docMk/>
            <pc:sldMk cId="0" sldId="265"/>
            <ac:graphicFrameMk id="4" creationId="{2A4FF855-8E22-0732-0A0C-B97983B90498}"/>
          </ac:graphicFrameMkLst>
        </pc:graphicFrameChg>
        <pc:graphicFrameChg chg="add mod">
          <ac:chgData name="Payal Shinde" userId="f6b038fdb6c877ec" providerId="LiveId" clId="{CF34941C-0E77-49AA-9933-61CFA73AFCEA}" dt="2026-07-03T13:10:07.844" v="215"/>
          <ac:graphicFrameMkLst>
            <pc:docMk/>
            <pc:sldMk cId="0" sldId="265"/>
            <ac:graphicFrameMk id="10" creationId="{0AA7F1C5-328E-1C32-5E15-1FDE4873DEF6}"/>
          </ac:graphicFrameMkLst>
        </pc:graphicFrameChg>
        <pc:graphicFrameChg chg="add mod">
          <ac:chgData name="Payal Shinde" userId="f6b038fdb6c877ec" providerId="LiveId" clId="{CF34941C-0E77-49AA-9933-61CFA73AFCEA}" dt="2026-07-03T13:10:07.844" v="215"/>
          <ac:graphicFrameMkLst>
            <pc:docMk/>
            <pc:sldMk cId="0" sldId="265"/>
            <ac:graphicFrameMk id="12" creationId="{DC4EEFCE-C2BE-BE51-D671-4161A1AD2C9F}"/>
          </ac:graphicFrameMkLst>
        </pc:graphicFrameChg>
        <pc:graphicFrameChg chg="add mod">
          <ac:chgData name="Payal Shinde" userId="f6b038fdb6c877ec" providerId="LiveId" clId="{CF34941C-0E77-49AA-9933-61CFA73AFCEA}" dt="2026-07-03T13:10:07.844" v="215"/>
          <ac:graphicFrameMkLst>
            <pc:docMk/>
            <pc:sldMk cId="0" sldId="265"/>
            <ac:graphicFrameMk id="13" creationId="{7635F6BD-A7A7-EDE0-9E9F-84B9CCCA20EE}"/>
          </ac:graphicFrameMkLst>
        </pc:graphicFrameChg>
        <pc:graphicFrameChg chg="add mod">
          <ac:chgData name="Payal Shinde" userId="f6b038fdb6c877ec" providerId="LiveId" clId="{CF34941C-0E77-49AA-9933-61CFA73AFCEA}" dt="2026-07-03T13:10:07.844" v="215"/>
          <ac:graphicFrameMkLst>
            <pc:docMk/>
            <pc:sldMk cId="0" sldId="265"/>
            <ac:graphicFrameMk id="14" creationId="{868DBD9F-A826-D63F-1D94-93E67531EFB8}"/>
          </ac:graphicFrameMkLst>
        </pc:graphicFrameChg>
        <pc:graphicFrameChg chg="add mod">
          <ac:chgData name="Payal Shinde" userId="f6b038fdb6c877ec" providerId="LiveId" clId="{CF34941C-0E77-49AA-9933-61CFA73AFCEA}" dt="2026-07-03T13:10:07.844" v="215"/>
          <ac:graphicFrameMkLst>
            <pc:docMk/>
            <pc:sldMk cId="0" sldId="265"/>
            <ac:graphicFrameMk id="15" creationId="{34124789-55B2-0C12-FAC5-1A14213F7A56}"/>
          </ac:graphicFrameMkLst>
        </pc:graphicFrameChg>
        <pc:graphicFrameChg chg="add mod">
          <ac:chgData name="Payal Shinde" userId="f6b038fdb6c877ec" providerId="LiveId" clId="{CF34941C-0E77-49AA-9933-61CFA73AFCEA}" dt="2026-07-03T13:10:07.844" v="215"/>
          <ac:graphicFrameMkLst>
            <pc:docMk/>
            <pc:sldMk cId="0" sldId="265"/>
            <ac:graphicFrameMk id="16" creationId="{4B65B9ED-5084-1A6F-3D5F-56138BB5D4BF}"/>
          </ac:graphicFrameMkLst>
        </pc:graphicFrameChg>
        <pc:graphicFrameChg chg="add mod">
          <ac:chgData name="Payal Shinde" userId="f6b038fdb6c877ec" providerId="LiveId" clId="{CF34941C-0E77-49AA-9933-61CFA73AFCEA}" dt="2026-07-03T13:10:07.844" v="215"/>
          <ac:graphicFrameMkLst>
            <pc:docMk/>
            <pc:sldMk cId="0" sldId="265"/>
            <ac:graphicFrameMk id="17" creationId="{47126847-64A1-C946-DC43-EAEA9CF8E48E}"/>
          </ac:graphicFrameMkLst>
        </pc:graphicFrameChg>
        <pc:graphicFrameChg chg="add mod">
          <ac:chgData name="Payal Shinde" userId="f6b038fdb6c877ec" providerId="LiveId" clId="{CF34941C-0E77-49AA-9933-61CFA73AFCEA}" dt="2026-07-03T13:10:07.844" v="215"/>
          <ac:graphicFrameMkLst>
            <pc:docMk/>
            <pc:sldMk cId="0" sldId="265"/>
            <ac:graphicFrameMk id="18" creationId="{6B8E6480-3A06-2503-9486-B37A1411B0E1}"/>
          </ac:graphicFrameMkLst>
        </pc:graphicFrameChg>
        <pc:graphicFrameChg chg="add del mod">
          <ac:chgData name="Payal Shinde" userId="f6b038fdb6c877ec" providerId="LiveId" clId="{CF34941C-0E77-49AA-9933-61CFA73AFCEA}" dt="2026-07-03T13:10:13.026" v="220" actId="478"/>
          <ac:graphicFrameMkLst>
            <pc:docMk/>
            <pc:sldMk cId="0" sldId="265"/>
            <ac:graphicFrameMk id="19" creationId="{886F4472-7387-54DF-E648-21AE4BA2F6B2}"/>
          </ac:graphicFrameMkLst>
        </pc:graphicFrameChg>
        <pc:graphicFrameChg chg="add mod modGraphic">
          <ac:chgData name="Payal Shinde" userId="f6b038fdb6c877ec" providerId="LiveId" clId="{CF34941C-0E77-49AA-9933-61CFA73AFCEA}" dt="2026-07-03T13:16:50.042" v="458" actId="14100"/>
          <ac:graphicFrameMkLst>
            <pc:docMk/>
            <pc:sldMk cId="0" sldId="265"/>
            <ac:graphicFrameMk id="20" creationId="{93D355D2-FA23-0A70-B0A6-DD71483276D8}"/>
          </ac:graphicFrameMkLst>
        </pc:graphicFrameChg>
      </pc:sldChg>
      <pc:sldChg chg="modSp mod">
        <pc:chgData name="Payal Shinde" userId="f6b038fdb6c877ec" providerId="LiveId" clId="{CF34941C-0E77-49AA-9933-61CFA73AFCEA}" dt="2026-07-03T13:19:55.295" v="522" actId="255"/>
        <pc:sldMkLst>
          <pc:docMk/>
          <pc:sldMk cId="0" sldId="266"/>
        </pc:sldMkLst>
        <pc:spChg chg="mod">
          <ac:chgData name="Payal Shinde" userId="f6b038fdb6c877ec" providerId="LiveId" clId="{CF34941C-0E77-49AA-9933-61CFA73AFCEA}" dt="2026-07-03T13:19:55.295" v="522" actId="255"/>
          <ac:spMkLst>
            <pc:docMk/>
            <pc:sldMk cId="0" sldId="266"/>
            <ac:spMk id="9" creationId="{9559928A-8A5F-1DE9-3842-382A05E66E54}"/>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56031" y="265175"/>
            <a:ext cx="11680190" cy="6329045"/>
          </a:xfrm>
          <a:custGeom>
            <a:avLst/>
            <a:gdLst/>
            <a:ahLst/>
            <a:cxnLst/>
            <a:rect l="l" t="t" r="r" b="b"/>
            <a:pathLst>
              <a:path w="11680190" h="6329045">
                <a:moveTo>
                  <a:pt x="11679809" y="0"/>
                </a:moveTo>
                <a:lnTo>
                  <a:pt x="0" y="0"/>
                </a:lnTo>
                <a:lnTo>
                  <a:pt x="0" y="6328791"/>
                </a:lnTo>
                <a:lnTo>
                  <a:pt x="11679809" y="6328791"/>
                </a:lnTo>
                <a:lnTo>
                  <a:pt x="11679809" y="0"/>
                </a:lnTo>
                <a:close/>
              </a:path>
            </a:pathLst>
          </a:custGeom>
          <a:solidFill>
            <a:srgbClr val="F5F5F5"/>
          </a:solidFill>
        </p:spPr>
        <p:txBody>
          <a:bodyPr wrap="square" lIns="0" tIns="0" rIns="0" bIns="0" rtlCol="0"/>
          <a:lstStyle/>
          <a:p>
            <a:endParaRPr/>
          </a:p>
        </p:txBody>
      </p:sp>
      <p:sp>
        <p:nvSpPr>
          <p:cNvPr id="17" name="bg object 17"/>
          <p:cNvSpPr/>
          <p:nvPr/>
        </p:nvSpPr>
        <p:spPr>
          <a:xfrm>
            <a:off x="604266" y="1197102"/>
            <a:ext cx="10982960" cy="0"/>
          </a:xfrm>
          <a:custGeom>
            <a:avLst/>
            <a:gdLst/>
            <a:ahLst/>
            <a:cxnLst/>
            <a:rect l="l" t="t" r="r" b="b"/>
            <a:pathLst>
              <a:path w="10982960">
                <a:moveTo>
                  <a:pt x="0" y="0"/>
                </a:moveTo>
                <a:lnTo>
                  <a:pt x="10982960" y="0"/>
                </a:lnTo>
              </a:path>
            </a:pathLst>
          </a:custGeom>
          <a:ln w="25908">
            <a:solidFill>
              <a:srgbClr val="D24623"/>
            </a:solidFill>
          </a:ln>
        </p:spPr>
        <p:txBody>
          <a:bodyPr wrap="square" lIns="0" tIns="0" rIns="0" bIns="0" rtlCol="0"/>
          <a:lstStyle/>
          <a:p>
            <a:endParaRPr/>
          </a:p>
        </p:txBody>
      </p:sp>
      <p:pic>
        <p:nvPicPr>
          <p:cNvPr id="18" name="bg object 18"/>
          <p:cNvPicPr/>
          <p:nvPr/>
        </p:nvPicPr>
        <p:blipFill>
          <a:blip r:embed="rId2" cstate="print"/>
          <a:stretch>
            <a:fillRect/>
          </a:stretch>
        </p:blipFill>
        <p:spPr>
          <a:xfrm>
            <a:off x="329184" y="100584"/>
            <a:ext cx="931163" cy="1046987"/>
          </a:xfrm>
          <a:prstGeom prst="rect">
            <a:avLst/>
          </a:prstGeom>
        </p:spPr>
      </p:pic>
      <p:pic>
        <p:nvPicPr>
          <p:cNvPr id="19" name="bg object 19"/>
          <p:cNvPicPr/>
          <p:nvPr/>
        </p:nvPicPr>
        <p:blipFill>
          <a:blip r:embed="rId3" cstate="print"/>
          <a:stretch>
            <a:fillRect/>
          </a:stretch>
        </p:blipFill>
        <p:spPr>
          <a:xfrm>
            <a:off x="0" y="0"/>
            <a:ext cx="326136" cy="6856475"/>
          </a:xfrm>
          <a:prstGeom prst="rect">
            <a:avLst/>
          </a:prstGeom>
        </p:spPr>
      </p:pic>
      <p:sp>
        <p:nvSpPr>
          <p:cNvPr id="20" name="bg object 20"/>
          <p:cNvSpPr/>
          <p:nvPr/>
        </p:nvSpPr>
        <p:spPr>
          <a:xfrm>
            <a:off x="0" y="0"/>
            <a:ext cx="271145" cy="6854825"/>
          </a:xfrm>
          <a:custGeom>
            <a:avLst/>
            <a:gdLst/>
            <a:ahLst/>
            <a:cxnLst/>
            <a:rect l="l" t="t" r="r" b="b"/>
            <a:pathLst>
              <a:path w="271145" h="6854825">
                <a:moveTo>
                  <a:pt x="270738" y="0"/>
                </a:moveTo>
                <a:lnTo>
                  <a:pt x="0" y="0"/>
                </a:lnTo>
                <a:lnTo>
                  <a:pt x="0" y="6854444"/>
                </a:lnTo>
                <a:lnTo>
                  <a:pt x="270738" y="6854444"/>
                </a:lnTo>
                <a:lnTo>
                  <a:pt x="270738" y="0"/>
                </a:lnTo>
                <a:close/>
              </a:path>
            </a:pathLst>
          </a:custGeom>
          <a:solidFill>
            <a:srgbClr val="FF5050"/>
          </a:solidFill>
        </p:spPr>
        <p:txBody>
          <a:bodyPr wrap="square" lIns="0" tIns="0" rIns="0" bIns="0" rtlCol="0"/>
          <a:lstStyle/>
          <a:p>
            <a:endParaRPr/>
          </a:p>
        </p:txBody>
      </p:sp>
      <p:sp>
        <p:nvSpPr>
          <p:cNvPr id="2" name="Holder 2"/>
          <p:cNvSpPr>
            <a:spLocks noGrp="1"/>
          </p:cNvSpPr>
          <p:nvPr>
            <p:ph type="ctrTitle"/>
          </p:nvPr>
        </p:nvSpPr>
        <p:spPr>
          <a:xfrm>
            <a:off x="1715261" y="352424"/>
            <a:ext cx="4153535" cy="635000"/>
          </a:xfrm>
          <a:prstGeom prst="rect">
            <a:avLst/>
          </a:prstGeom>
        </p:spPr>
        <p:txBody>
          <a:bodyPr wrap="square" lIns="0" tIns="0" rIns="0" bIns="0">
            <a:spAutoFit/>
          </a:bodyPr>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D362D2"/>
                </a:solidFill>
                <a:latin typeface="Times New Roman"/>
                <a:cs typeface="Times New Roman"/>
              </a:defRPr>
            </a:lvl1pPr>
          </a:lstStyle>
          <a:p>
            <a:pPr marL="187325">
              <a:lnSpc>
                <a:spcPts val="1630"/>
              </a:lnSpc>
            </a:pPr>
            <a:r>
              <a:rPr spc="-35" dirty="0"/>
              <a:t>Department</a:t>
            </a:r>
            <a:r>
              <a:rPr spc="-30" dirty="0"/>
              <a:t> </a:t>
            </a:r>
            <a:r>
              <a:rPr dirty="0"/>
              <a:t>of</a:t>
            </a:r>
            <a:r>
              <a:rPr spc="65" dirty="0"/>
              <a:t> </a:t>
            </a:r>
            <a:r>
              <a:rPr spc="-30" dirty="0"/>
              <a:t>Information</a:t>
            </a:r>
            <a:r>
              <a:rPr spc="-120" dirty="0"/>
              <a:t> </a:t>
            </a:r>
            <a:r>
              <a:rPr spc="-10" dirty="0"/>
              <a:t>Technology</a:t>
            </a:r>
          </a:p>
        </p:txBody>
      </p:sp>
      <p:sp>
        <p:nvSpPr>
          <p:cNvPr id="5" name="Holder 5"/>
          <p:cNvSpPr>
            <a:spLocks noGrp="1"/>
          </p:cNvSpPr>
          <p:nvPr>
            <p:ph type="dt" sz="half" idx="6"/>
          </p:nvPr>
        </p:nvSpPr>
        <p:spPr/>
        <p:txBody>
          <a:bodyPr lIns="0" tIns="0" rIns="0" bIns="0"/>
          <a:lstStyle>
            <a:lvl1pPr>
              <a:defRPr sz="1400" b="1" i="0">
                <a:solidFill>
                  <a:srgbClr val="D362D2"/>
                </a:solidFill>
                <a:latin typeface="Times New Roman"/>
                <a:cs typeface="Times New Roman"/>
              </a:defRPr>
            </a:lvl1pPr>
          </a:lstStyle>
          <a:p>
            <a:pPr marL="13335">
              <a:lnSpc>
                <a:spcPts val="1630"/>
              </a:lnSpc>
            </a:pPr>
            <a:r>
              <a:rPr dirty="0"/>
              <a:t>2026-</a:t>
            </a:r>
            <a:r>
              <a:rPr spc="-20" dirty="0"/>
              <a:t>2027</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D362D2"/>
                </a:solidFill>
                <a:latin typeface="Times New Roman"/>
                <a:cs typeface="Times New Roman"/>
              </a:defRPr>
            </a:lvl1pPr>
          </a:lstStyle>
          <a:p>
            <a:pPr marL="187325">
              <a:lnSpc>
                <a:spcPts val="1630"/>
              </a:lnSpc>
            </a:pPr>
            <a:r>
              <a:rPr spc="-35" dirty="0"/>
              <a:t>Department</a:t>
            </a:r>
            <a:r>
              <a:rPr spc="-30" dirty="0"/>
              <a:t> </a:t>
            </a:r>
            <a:r>
              <a:rPr dirty="0"/>
              <a:t>of</a:t>
            </a:r>
            <a:r>
              <a:rPr spc="65" dirty="0"/>
              <a:t> </a:t>
            </a:r>
            <a:r>
              <a:rPr spc="-30" dirty="0"/>
              <a:t>Information</a:t>
            </a:r>
            <a:r>
              <a:rPr spc="-120" dirty="0"/>
              <a:t> </a:t>
            </a:r>
            <a:r>
              <a:rPr spc="-10" dirty="0"/>
              <a:t>Technology</a:t>
            </a:r>
          </a:p>
        </p:txBody>
      </p:sp>
      <p:sp>
        <p:nvSpPr>
          <p:cNvPr id="5" name="Holder 5"/>
          <p:cNvSpPr>
            <a:spLocks noGrp="1"/>
          </p:cNvSpPr>
          <p:nvPr>
            <p:ph type="dt" sz="half" idx="6"/>
          </p:nvPr>
        </p:nvSpPr>
        <p:spPr/>
        <p:txBody>
          <a:bodyPr lIns="0" tIns="0" rIns="0" bIns="0"/>
          <a:lstStyle>
            <a:lvl1pPr>
              <a:defRPr sz="1400" b="1" i="0">
                <a:solidFill>
                  <a:srgbClr val="D362D2"/>
                </a:solidFill>
                <a:latin typeface="Times New Roman"/>
                <a:cs typeface="Times New Roman"/>
              </a:defRPr>
            </a:lvl1pPr>
          </a:lstStyle>
          <a:p>
            <a:pPr marL="13335">
              <a:lnSpc>
                <a:spcPts val="1630"/>
              </a:lnSpc>
            </a:pPr>
            <a:r>
              <a:rPr dirty="0"/>
              <a:t>2026-</a:t>
            </a:r>
            <a:r>
              <a:rPr spc="-20" dirty="0"/>
              <a:t>2027</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1" i="0">
                <a:solidFill>
                  <a:srgbClr val="D362D2"/>
                </a:solidFill>
                <a:latin typeface="Times New Roman"/>
                <a:cs typeface="Times New Roman"/>
              </a:defRPr>
            </a:lvl1pPr>
          </a:lstStyle>
          <a:p>
            <a:pPr marL="187325">
              <a:lnSpc>
                <a:spcPts val="1630"/>
              </a:lnSpc>
            </a:pPr>
            <a:r>
              <a:rPr spc="-35" dirty="0"/>
              <a:t>Department</a:t>
            </a:r>
            <a:r>
              <a:rPr spc="-30" dirty="0"/>
              <a:t> </a:t>
            </a:r>
            <a:r>
              <a:rPr dirty="0"/>
              <a:t>of</a:t>
            </a:r>
            <a:r>
              <a:rPr spc="65" dirty="0"/>
              <a:t> </a:t>
            </a:r>
            <a:r>
              <a:rPr spc="-30" dirty="0"/>
              <a:t>Information</a:t>
            </a:r>
            <a:r>
              <a:rPr spc="-120" dirty="0"/>
              <a:t> </a:t>
            </a:r>
            <a:r>
              <a:rPr spc="-10" dirty="0"/>
              <a:t>Technology</a:t>
            </a:r>
          </a:p>
        </p:txBody>
      </p:sp>
      <p:sp>
        <p:nvSpPr>
          <p:cNvPr id="6" name="Holder 6"/>
          <p:cNvSpPr>
            <a:spLocks noGrp="1"/>
          </p:cNvSpPr>
          <p:nvPr>
            <p:ph type="dt" sz="half" idx="6"/>
          </p:nvPr>
        </p:nvSpPr>
        <p:spPr/>
        <p:txBody>
          <a:bodyPr lIns="0" tIns="0" rIns="0" bIns="0"/>
          <a:lstStyle>
            <a:lvl1pPr>
              <a:defRPr sz="1400" b="1" i="0">
                <a:solidFill>
                  <a:srgbClr val="D362D2"/>
                </a:solidFill>
                <a:latin typeface="Times New Roman"/>
                <a:cs typeface="Times New Roman"/>
              </a:defRPr>
            </a:lvl1pPr>
          </a:lstStyle>
          <a:p>
            <a:pPr marL="13335">
              <a:lnSpc>
                <a:spcPts val="1630"/>
              </a:lnSpc>
            </a:pPr>
            <a:r>
              <a:rPr dirty="0"/>
              <a:t>2026-</a:t>
            </a:r>
            <a:r>
              <a:rPr spc="-20" dirty="0"/>
              <a:t>2027</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56031" y="265175"/>
            <a:ext cx="11680190" cy="6329045"/>
          </a:xfrm>
          <a:custGeom>
            <a:avLst/>
            <a:gdLst/>
            <a:ahLst/>
            <a:cxnLst/>
            <a:rect l="l" t="t" r="r" b="b"/>
            <a:pathLst>
              <a:path w="11680190" h="6329045">
                <a:moveTo>
                  <a:pt x="11679809" y="0"/>
                </a:moveTo>
                <a:lnTo>
                  <a:pt x="0" y="0"/>
                </a:lnTo>
                <a:lnTo>
                  <a:pt x="0" y="6328791"/>
                </a:lnTo>
                <a:lnTo>
                  <a:pt x="11679809" y="6328791"/>
                </a:lnTo>
                <a:lnTo>
                  <a:pt x="11679809" y="0"/>
                </a:lnTo>
                <a:close/>
              </a:path>
            </a:pathLst>
          </a:custGeom>
          <a:solidFill>
            <a:srgbClr val="F5F5F5"/>
          </a:solidFill>
        </p:spPr>
        <p:txBody>
          <a:bodyPr wrap="square" lIns="0" tIns="0" rIns="0" bIns="0" rtlCol="0"/>
          <a:lstStyle/>
          <a:p>
            <a:endParaRPr/>
          </a:p>
        </p:txBody>
      </p:sp>
      <p:sp>
        <p:nvSpPr>
          <p:cNvPr id="17" name="bg object 17"/>
          <p:cNvSpPr/>
          <p:nvPr/>
        </p:nvSpPr>
        <p:spPr>
          <a:xfrm>
            <a:off x="604266" y="1197102"/>
            <a:ext cx="10982960" cy="0"/>
          </a:xfrm>
          <a:custGeom>
            <a:avLst/>
            <a:gdLst/>
            <a:ahLst/>
            <a:cxnLst/>
            <a:rect l="l" t="t" r="r" b="b"/>
            <a:pathLst>
              <a:path w="10982960">
                <a:moveTo>
                  <a:pt x="0" y="0"/>
                </a:moveTo>
                <a:lnTo>
                  <a:pt x="10982960" y="0"/>
                </a:lnTo>
              </a:path>
            </a:pathLst>
          </a:custGeom>
          <a:ln w="25908">
            <a:solidFill>
              <a:srgbClr val="D24623"/>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400" b="1" i="0">
                <a:solidFill>
                  <a:srgbClr val="D362D2"/>
                </a:solidFill>
                <a:latin typeface="Times New Roman"/>
                <a:cs typeface="Times New Roman"/>
              </a:defRPr>
            </a:lvl1pPr>
          </a:lstStyle>
          <a:p>
            <a:pPr marL="187325">
              <a:lnSpc>
                <a:spcPts val="1630"/>
              </a:lnSpc>
            </a:pPr>
            <a:r>
              <a:rPr spc="-35" dirty="0"/>
              <a:t>Department</a:t>
            </a:r>
            <a:r>
              <a:rPr spc="-30" dirty="0"/>
              <a:t> </a:t>
            </a:r>
            <a:r>
              <a:rPr dirty="0"/>
              <a:t>of</a:t>
            </a:r>
            <a:r>
              <a:rPr spc="65" dirty="0"/>
              <a:t> </a:t>
            </a:r>
            <a:r>
              <a:rPr spc="-30" dirty="0"/>
              <a:t>Information</a:t>
            </a:r>
            <a:r>
              <a:rPr spc="-120" dirty="0"/>
              <a:t> </a:t>
            </a:r>
            <a:r>
              <a:rPr spc="-10" dirty="0"/>
              <a:t>Technology</a:t>
            </a:r>
          </a:p>
        </p:txBody>
      </p:sp>
      <p:sp>
        <p:nvSpPr>
          <p:cNvPr id="4" name="Holder 4"/>
          <p:cNvSpPr>
            <a:spLocks noGrp="1"/>
          </p:cNvSpPr>
          <p:nvPr>
            <p:ph type="dt" sz="half" idx="6"/>
          </p:nvPr>
        </p:nvSpPr>
        <p:spPr/>
        <p:txBody>
          <a:bodyPr lIns="0" tIns="0" rIns="0" bIns="0"/>
          <a:lstStyle>
            <a:lvl1pPr>
              <a:defRPr sz="1400" b="1" i="0">
                <a:solidFill>
                  <a:srgbClr val="D362D2"/>
                </a:solidFill>
                <a:latin typeface="Times New Roman"/>
                <a:cs typeface="Times New Roman"/>
              </a:defRPr>
            </a:lvl1pPr>
          </a:lstStyle>
          <a:p>
            <a:pPr marL="13335">
              <a:lnSpc>
                <a:spcPts val="1630"/>
              </a:lnSpc>
            </a:pPr>
            <a:r>
              <a:rPr dirty="0"/>
              <a:t>2026-</a:t>
            </a:r>
            <a:r>
              <a:rPr spc="-20" dirty="0"/>
              <a:t>2027</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0">
                <a:solidFill>
                  <a:srgbClr val="D362D2"/>
                </a:solidFill>
                <a:latin typeface="Times New Roman"/>
                <a:cs typeface="Times New Roman"/>
              </a:defRPr>
            </a:lvl1pPr>
          </a:lstStyle>
          <a:p>
            <a:pPr marL="187325">
              <a:lnSpc>
                <a:spcPts val="1630"/>
              </a:lnSpc>
            </a:pPr>
            <a:r>
              <a:rPr spc="-35" dirty="0"/>
              <a:t>Department</a:t>
            </a:r>
            <a:r>
              <a:rPr spc="-30" dirty="0"/>
              <a:t> </a:t>
            </a:r>
            <a:r>
              <a:rPr dirty="0"/>
              <a:t>of</a:t>
            </a:r>
            <a:r>
              <a:rPr spc="65" dirty="0"/>
              <a:t> </a:t>
            </a:r>
            <a:r>
              <a:rPr spc="-30" dirty="0"/>
              <a:t>Information</a:t>
            </a:r>
            <a:r>
              <a:rPr spc="-120" dirty="0"/>
              <a:t> </a:t>
            </a:r>
            <a:r>
              <a:rPr spc="-10" dirty="0"/>
              <a:t>Technology</a:t>
            </a:r>
          </a:p>
        </p:txBody>
      </p:sp>
      <p:sp>
        <p:nvSpPr>
          <p:cNvPr id="3" name="Holder 3"/>
          <p:cNvSpPr>
            <a:spLocks noGrp="1"/>
          </p:cNvSpPr>
          <p:nvPr>
            <p:ph type="dt" sz="half" idx="6"/>
          </p:nvPr>
        </p:nvSpPr>
        <p:spPr/>
        <p:txBody>
          <a:bodyPr lIns="0" tIns="0" rIns="0" bIns="0"/>
          <a:lstStyle>
            <a:lvl1pPr>
              <a:defRPr sz="1400" b="1" i="0">
                <a:solidFill>
                  <a:srgbClr val="D362D2"/>
                </a:solidFill>
                <a:latin typeface="Times New Roman"/>
                <a:cs typeface="Times New Roman"/>
              </a:defRPr>
            </a:lvl1pPr>
          </a:lstStyle>
          <a:p>
            <a:pPr marL="13335">
              <a:lnSpc>
                <a:spcPts val="1630"/>
              </a:lnSpc>
            </a:pPr>
            <a:r>
              <a:rPr dirty="0"/>
              <a:t>2026-</a:t>
            </a:r>
            <a:r>
              <a:rPr spc="-20" dirty="0"/>
              <a:t>2027</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56031" y="265175"/>
            <a:ext cx="11680190" cy="6329045"/>
          </a:xfrm>
          <a:custGeom>
            <a:avLst/>
            <a:gdLst/>
            <a:ahLst/>
            <a:cxnLst/>
            <a:rect l="l" t="t" r="r" b="b"/>
            <a:pathLst>
              <a:path w="11680190" h="6329045">
                <a:moveTo>
                  <a:pt x="11679809" y="0"/>
                </a:moveTo>
                <a:lnTo>
                  <a:pt x="0" y="0"/>
                </a:lnTo>
                <a:lnTo>
                  <a:pt x="0" y="6328791"/>
                </a:lnTo>
                <a:lnTo>
                  <a:pt x="11679809" y="6328791"/>
                </a:lnTo>
                <a:lnTo>
                  <a:pt x="11679809" y="0"/>
                </a:lnTo>
                <a:close/>
              </a:path>
            </a:pathLst>
          </a:custGeom>
          <a:solidFill>
            <a:srgbClr val="F5F5F5"/>
          </a:solidFill>
        </p:spPr>
        <p:txBody>
          <a:bodyPr wrap="square" lIns="0" tIns="0" rIns="0" bIns="0" rtlCol="0"/>
          <a:lstStyle/>
          <a:p>
            <a:endParaRPr/>
          </a:p>
        </p:txBody>
      </p:sp>
      <p:sp>
        <p:nvSpPr>
          <p:cNvPr id="2" name="Holder 2"/>
          <p:cNvSpPr>
            <a:spLocks noGrp="1"/>
          </p:cNvSpPr>
          <p:nvPr>
            <p:ph type="title"/>
          </p:nvPr>
        </p:nvSpPr>
        <p:spPr>
          <a:xfrm>
            <a:off x="686206" y="144017"/>
            <a:ext cx="10819587" cy="937260"/>
          </a:xfrm>
          <a:prstGeom prst="rect">
            <a:avLst/>
          </a:prstGeom>
        </p:spPr>
        <p:txBody>
          <a:bodyPr wrap="square" lIns="0" tIns="0" rIns="0" bIns="0">
            <a:spAutoFit/>
          </a:bodyPr>
          <a:lstStyle>
            <a:lvl1pPr>
              <a:defRPr sz="3600" b="1" i="0">
                <a:solidFill>
                  <a:srgbClr val="FF0000"/>
                </a:solidFill>
                <a:latin typeface="Times New Roman"/>
                <a:cs typeface="Times New Roman"/>
              </a:defRPr>
            </a:lvl1pPr>
          </a:lstStyle>
          <a:p>
            <a:endParaRPr/>
          </a:p>
        </p:txBody>
      </p:sp>
      <p:sp>
        <p:nvSpPr>
          <p:cNvPr id="3" name="Holder 3"/>
          <p:cNvSpPr>
            <a:spLocks noGrp="1"/>
          </p:cNvSpPr>
          <p:nvPr>
            <p:ph type="body" idx="1"/>
          </p:nvPr>
        </p:nvSpPr>
        <p:spPr>
          <a:xfrm>
            <a:off x="834034" y="1267815"/>
            <a:ext cx="9144635" cy="4726305"/>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8583294" y="6582470"/>
            <a:ext cx="3100324" cy="225628"/>
          </a:xfrm>
          <a:prstGeom prst="rect">
            <a:avLst/>
          </a:prstGeom>
        </p:spPr>
        <p:txBody>
          <a:bodyPr wrap="square" lIns="0" tIns="0" rIns="0" bIns="0">
            <a:spAutoFit/>
          </a:bodyPr>
          <a:lstStyle>
            <a:lvl1pPr>
              <a:defRPr sz="1400" b="1" i="0">
                <a:solidFill>
                  <a:srgbClr val="D362D2"/>
                </a:solidFill>
                <a:latin typeface="Times New Roman"/>
                <a:cs typeface="Times New Roman"/>
              </a:defRPr>
            </a:lvl1pPr>
          </a:lstStyle>
          <a:p>
            <a:pPr marL="187325">
              <a:lnSpc>
                <a:spcPts val="1630"/>
              </a:lnSpc>
            </a:pPr>
            <a:r>
              <a:rPr spc="-35" dirty="0"/>
              <a:t>Department</a:t>
            </a:r>
            <a:r>
              <a:rPr spc="-30" dirty="0"/>
              <a:t> </a:t>
            </a:r>
            <a:r>
              <a:rPr dirty="0"/>
              <a:t>of</a:t>
            </a:r>
            <a:r>
              <a:rPr spc="65" dirty="0"/>
              <a:t> </a:t>
            </a:r>
            <a:r>
              <a:rPr spc="-30" dirty="0"/>
              <a:t>Information</a:t>
            </a:r>
            <a:r>
              <a:rPr spc="-120" dirty="0"/>
              <a:t> </a:t>
            </a:r>
            <a:r>
              <a:rPr spc="-10" dirty="0"/>
              <a:t>Technology</a:t>
            </a:r>
          </a:p>
        </p:txBody>
      </p:sp>
      <p:sp>
        <p:nvSpPr>
          <p:cNvPr id="5" name="Holder 5"/>
          <p:cNvSpPr>
            <a:spLocks noGrp="1"/>
          </p:cNvSpPr>
          <p:nvPr>
            <p:ph type="dt" sz="half" idx="6"/>
          </p:nvPr>
        </p:nvSpPr>
        <p:spPr>
          <a:xfrm>
            <a:off x="5345048" y="6582470"/>
            <a:ext cx="1279905" cy="225628"/>
          </a:xfrm>
          <a:prstGeom prst="rect">
            <a:avLst/>
          </a:prstGeom>
        </p:spPr>
        <p:txBody>
          <a:bodyPr wrap="square" lIns="0" tIns="0" rIns="0" bIns="0">
            <a:spAutoFit/>
          </a:bodyPr>
          <a:lstStyle>
            <a:lvl1pPr>
              <a:defRPr sz="1400" b="1" i="0">
                <a:solidFill>
                  <a:srgbClr val="D362D2"/>
                </a:solidFill>
                <a:latin typeface="Times New Roman"/>
                <a:cs typeface="Times New Roman"/>
              </a:defRPr>
            </a:lvl1pPr>
          </a:lstStyle>
          <a:p>
            <a:pPr marL="13335">
              <a:lnSpc>
                <a:spcPts val="1630"/>
              </a:lnSpc>
            </a:pPr>
            <a:r>
              <a:rPr dirty="0"/>
              <a:t>2026-</a:t>
            </a:r>
            <a:r>
              <a:rPr spc="-20" dirty="0"/>
              <a:t>2027</a:t>
            </a:r>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10618" y="153224"/>
            <a:ext cx="11678920" cy="6329045"/>
          </a:xfrm>
          <a:custGeom>
            <a:avLst/>
            <a:gdLst/>
            <a:ahLst/>
            <a:cxnLst/>
            <a:rect l="l" t="t" r="r" b="b"/>
            <a:pathLst>
              <a:path w="11678920" h="6329045">
                <a:moveTo>
                  <a:pt x="11678412" y="0"/>
                </a:moveTo>
                <a:lnTo>
                  <a:pt x="0" y="0"/>
                </a:lnTo>
                <a:lnTo>
                  <a:pt x="0" y="6328791"/>
                </a:lnTo>
                <a:lnTo>
                  <a:pt x="11678412" y="6328791"/>
                </a:lnTo>
                <a:lnTo>
                  <a:pt x="11678412" y="0"/>
                </a:lnTo>
                <a:close/>
              </a:path>
            </a:pathLst>
          </a:custGeom>
          <a:solidFill>
            <a:srgbClr val="D24623"/>
          </a:solidFill>
        </p:spPr>
        <p:txBody>
          <a:bodyPr wrap="square" lIns="0" tIns="0" rIns="0" bIns="0" rtlCol="0"/>
          <a:lstStyle/>
          <a:p>
            <a:endParaRPr/>
          </a:p>
        </p:txBody>
      </p:sp>
      <p:pic>
        <p:nvPicPr>
          <p:cNvPr id="3" name="object 3"/>
          <p:cNvPicPr/>
          <p:nvPr/>
        </p:nvPicPr>
        <p:blipFill>
          <a:blip r:embed="rId2" cstate="print"/>
          <a:stretch>
            <a:fillRect/>
          </a:stretch>
        </p:blipFill>
        <p:spPr>
          <a:xfrm>
            <a:off x="342900" y="4546091"/>
            <a:ext cx="11711940" cy="2022348"/>
          </a:xfrm>
          <a:prstGeom prst="rect">
            <a:avLst/>
          </a:prstGeom>
        </p:spPr>
      </p:pic>
      <p:sp>
        <p:nvSpPr>
          <p:cNvPr id="4" name="object 4"/>
          <p:cNvSpPr txBox="1"/>
          <p:nvPr/>
        </p:nvSpPr>
        <p:spPr>
          <a:xfrm>
            <a:off x="5468873" y="340232"/>
            <a:ext cx="2143760" cy="193675"/>
          </a:xfrm>
          <a:prstGeom prst="rect">
            <a:avLst/>
          </a:prstGeom>
        </p:spPr>
        <p:txBody>
          <a:bodyPr vert="horz" wrap="square" lIns="0" tIns="12700" rIns="0" bIns="0" rtlCol="0">
            <a:spAutoFit/>
          </a:bodyPr>
          <a:lstStyle/>
          <a:p>
            <a:pPr marL="12700">
              <a:lnSpc>
                <a:spcPct val="100000"/>
              </a:lnSpc>
              <a:spcBef>
                <a:spcPts val="100"/>
              </a:spcBef>
            </a:pPr>
            <a:r>
              <a:rPr sz="1100" b="1" spc="-20" dirty="0">
                <a:solidFill>
                  <a:srgbClr val="FFFFFF"/>
                </a:solidFill>
                <a:latin typeface="Times New Roman"/>
                <a:cs typeface="Times New Roman"/>
              </a:rPr>
              <a:t>Sanjivani</a:t>
            </a:r>
            <a:r>
              <a:rPr sz="1100" b="1" spc="-65" dirty="0">
                <a:solidFill>
                  <a:srgbClr val="FFFFFF"/>
                </a:solidFill>
                <a:latin typeface="Times New Roman"/>
                <a:cs typeface="Times New Roman"/>
              </a:rPr>
              <a:t> </a:t>
            </a:r>
            <a:r>
              <a:rPr sz="1100" b="1" dirty="0">
                <a:solidFill>
                  <a:srgbClr val="FFFFFF"/>
                </a:solidFill>
                <a:latin typeface="Times New Roman"/>
                <a:cs typeface="Times New Roman"/>
              </a:rPr>
              <a:t>Rural</a:t>
            </a:r>
            <a:r>
              <a:rPr sz="1100" b="1" spc="60" dirty="0">
                <a:solidFill>
                  <a:srgbClr val="FFFFFF"/>
                </a:solidFill>
                <a:latin typeface="Times New Roman"/>
                <a:cs typeface="Times New Roman"/>
              </a:rPr>
              <a:t> </a:t>
            </a:r>
            <a:r>
              <a:rPr sz="1100" b="1" spc="-20" dirty="0">
                <a:solidFill>
                  <a:srgbClr val="FFFFFF"/>
                </a:solidFill>
                <a:latin typeface="Times New Roman"/>
                <a:cs typeface="Times New Roman"/>
              </a:rPr>
              <a:t>Education</a:t>
            </a:r>
            <a:r>
              <a:rPr sz="1100" b="1" spc="-5" dirty="0">
                <a:solidFill>
                  <a:srgbClr val="FFFFFF"/>
                </a:solidFill>
                <a:latin typeface="Times New Roman"/>
                <a:cs typeface="Times New Roman"/>
              </a:rPr>
              <a:t> </a:t>
            </a:r>
            <a:r>
              <a:rPr sz="1100" b="1" spc="-10" dirty="0">
                <a:solidFill>
                  <a:srgbClr val="FFFFFF"/>
                </a:solidFill>
                <a:latin typeface="Times New Roman"/>
                <a:cs typeface="Times New Roman"/>
              </a:rPr>
              <a:t>Society’s</a:t>
            </a:r>
            <a:endParaRPr sz="1100">
              <a:latin typeface="Times New Roman"/>
              <a:cs typeface="Times New Roman"/>
            </a:endParaRPr>
          </a:p>
        </p:txBody>
      </p:sp>
      <p:sp>
        <p:nvSpPr>
          <p:cNvPr id="5" name="object 5"/>
          <p:cNvSpPr txBox="1">
            <a:spLocks noGrp="1"/>
          </p:cNvSpPr>
          <p:nvPr>
            <p:ph type="title"/>
          </p:nvPr>
        </p:nvSpPr>
        <p:spPr>
          <a:xfrm>
            <a:off x="2840482" y="536524"/>
            <a:ext cx="7485380" cy="422909"/>
          </a:xfrm>
          <a:prstGeom prst="rect">
            <a:avLst/>
          </a:prstGeom>
        </p:spPr>
        <p:txBody>
          <a:bodyPr vert="horz" wrap="square" lIns="0" tIns="13335" rIns="0" bIns="0" rtlCol="0">
            <a:spAutoFit/>
          </a:bodyPr>
          <a:lstStyle/>
          <a:p>
            <a:pPr marL="12700">
              <a:lnSpc>
                <a:spcPct val="100000"/>
              </a:lnSpc>
              <a:spcBef>
                <a:spcPts val="105"/>
              </a:spcBef>
            </a:pPr>
            <a:r>
              <a:rPr sz="2600" dirty="0">
                <a:solidFill>
                  <a:srgbClr val="2955BB"/>
                </a:solidFill>
              </a:rPr>
              <a:t>Sanjivani</a:t>
            </a:r>
            <a:r>
              <a:rPr sz="2600" spc="-45" dirty="0">
                <a:solidFill>
                  <a:srgbClr val="2955BB"/>
                </a:solidFill>
              </a:rPr>
              <a:t> </a:t>
            </a:r>
            <a:r>
              <a:rPr sz="2600" dirty="0">
                <a:solidFill>
                  <a:srgbClr val="2955BB"/>
                </a:solidFill>
              </a:rPr>
              <a:t>College</a:t>
            </a:r>
            <a:r>
              <a:rPr sz="2600" spc="-35" dirty="0">
                <a:solidFill>
                  <a:srgbClr val="2955BB"/>
                </a:solidFill>
              </a:rPr>
              <a:t> </a:t>
            </a:r>
            <a:r>
              <a:rPr sz="2600" dirty="0">
                <a:solidFill>
                  <a:srgbClr val="2955BB"/>
                </a:solidFill>
              </a:rPr>
              <a:t>of</a:t>
            </a:r>
            <a:r>
              <a:rPr sz="2600" spc="5" dirty="0">
                <a:solidFill>
                  <a:srgbClr val="2955BB"/>
                </a:solidFill>
              </a:rPr>
              <a:t> </a:t>
            </a:r>
            <a:r>
              <a:rPr sz="2600" dirty="0">
                <a:solidFill>
                  <a:srgbClr val="2955BB"/>
                </a:solidFill>
              </a:rPr>
              <a:t>Engineering,</a:t>
            </a:r>
            <a:r>
              <a:rPr sz="2600" spc="-45" dirty="0">
                <a:solidFill>
                  <a:srgbClr val="2955BB"/>
                </a:solidFill>
              </a:rPr>
              <a:t> </a:t>
            </a:r>
            <a:r>
              <a:rPr sz="2600" spc="-35" dirty="0">
                <a:solidFill>
                  <a:srgbClr val="2955BB"/>
                </a:solidFill>
              </a:rPr>
              <a:t>Kopargaon-</a:t>
            </a:r>
            <a:r>
              <a:rPr sz="2600" spc="-10" dirty="0">
                <a:solidFill>
                  <a:srgbClr val="2955BB"/>
                </a:solidFill>
              </a:rPr>
              <a:t>423603</a:t>
            </a:r>
            <a:endParaRPr sz="2600"/>
          </a:p>
        </p:txBody>
      </p:sp>
      <p:pic>
        <p:nvPicPr>
          <p:cNvPr id="6" name="object 6"/>
          <p:cNvPicPr/>
          <p:nvPr/>
        </p:nvPicPr>
        <p:blipFill>
          <a:blip r:embed="rId3" cstate="print"/>
          <a:stretch>
            <a:fillRect/>
          </a:stretch>
        </p:blipFill>
        <p:spPr>
          <a:xfrm>
            <a:off x="338327" y="310895"/>
            <a:ext cx="1581911" cy="1778507"/>
          </a:xfrm>
          <a:prstGeom prst="rect">
            <a:avLst/>
          </a:prstGeom>
        </p:spPr>
      </p:pic>
      <p:sp>
        <p:nvSpPr>
          <p:cNvPr id="7" name="object 7"/>
          <p:cNvSpPr txBox="1"/>
          <p:nvPr/>
        </p:nvSpPr>
        <p:spPr>
          <a:xfrm>
            <a:off x="3592448" y="952880"/>
            <a:ext cx="5926455" cy="2493645"/>
          </a:xfrm>
          <a:prstGeom prst="rect">
            <a:avLst/>
          </a:prstGeom>
        </p:spPr>
        <p:txBody>
          <a:bodyPr vert="horz" wrap="square" lIns="0" tIns="88900" rIns="0" bIns="0" rtlCol="0">
            <a:spAutoFit/>
          </a:bodyPr>
          <a:lstStyle/>
          <a:p>
            <a:pPr algn="ctr">
              <a:lnSpc>
                <a:spcPct val="100000"/>
              </a:lnSpc>
              <a:spcBef>
                <a:spcPts val="700"/>
              </a:spcBef>
            </a:pPr>
            <a:r>
              <a:rPr sz="1500" spc="-30" dirty="0">
                <a:latin typeface="Times New Roman"/>
                <a:cs typeface="Times New Roman"/>
              </a:rPr>
              <a:t>(An</a:t>
            </a:r>
            <a:r>
              <a:rPr sz="1500" spc="-185" dirty="0">
                <a:latin typeface="Times New Roman"/>
                <a:cs typeface="Times New Roman"/>
              </a:rPr>
              <a:t> </a:t>
            </a:r>
            <a:r>
              <a:rPr sz="1500" dirty="0">
                <a:latin typeface="Times New Roman"/>
                <a:cs typeface="Times New Roman"/>
              </a:rPr>
              <a:t>Autonomous</a:t>
            </a:r>
            <a:r>
              <a:rPr sz="1500" spc="-25" dirty="0">
                <a:latin typeface="Times New Roman"/>
                <a:cs typeface="Times New Roman"/>
              </a:rPr>
              <a:t> </a:t>
            </a:r>
            <a:r>
              <a:rPr sz="1500" spc="-10" dirty="0">
                <a:latin typeface="Times New Roman"/>
                <a:cs typeface="Times New Roman"/>
              </a:rPr>
              <a:t>InstituteAffiliated</a:t>
            </a:r>
            <a:r>
              <a:rPr sz="1500" spc="-90" dirty="0">
                <a:latin typeface="Times New Roman"/>
                <a:cs typeface="Times New Roman"/>
              </a:rPr>
              <a:t> </a:t>
            </a:r>
            <a:r>
              <a:rPr sz="1500" dirty="0">
                <a:latin typeface="Times New Roman"/>
                <a:cs typeface="Times New Roman"/>
              </a:rPr>
              <a:t>to</a:t>
            </a:r>
            <a:r>
              <a:rPr sz="1500" spc="15" dirty="0">
                <a:latin typeface="Times New Roman"/>
                <a:cs typeface="Times New Roman"/>
              </a:rPr>
              <a:t> </a:t>
            </a:r>
            <a:r>
              <a:rPr sz="1500" dirty="0">
                <a:latin typeface="Times New Roman"/>
                <a:cs typeface="Times New Roman"/>
              </a:rPr>
              <a:t>Savitribai</a:t>
            </a:r>
            <a:r>
              <a:rPr sz="1500" spc="-65" dirty="0">
                <a:latin typeface="Times New Roman"/>
                <a:cs typeface="Times New Roman"/>
              </a:rPr>
              <a:t> </a:t>
            </a:r>
            <a:r>
              <a:rPr sz="1500" dirty="0">
                <a:latin typeface="Times New Roman"/>
                <a:cs typeface="Times New Roman"/>
              </a:rPr>
              <a:t>Phule</a:t>
            </a:r>
            <a:r>
              <a:rPr sz="1500" spc="-40" dirty="0">
                <a:latin typeface="Times New Roman"/>
                <a:cs typeface="Times New Roman"/>
              </a:rPr>
              <a:t> </a:t>
            </a:r>
            <a:r>
              <a:rPr sz="1500" dirty="0">
                <a:latin typeface="Times New Roman"/>
                <a:cs typeface="Times New Roman"/>
              </a:rPr>
              <a:t>Pune</a:t>
            </a:r>
            <a:r>
              <a:rPr sz="1500" spc="-50" dirty="0">
                <a:latin typeface="Times New Roman"/>
                <a:cs typeface="Times New Roman"/>
              </a:rPr>
              <a:t> </a:t>
            </a:r>
            <a:r>
              <a:rPr sz="1500" spc="-35" dirty="0">
                <a:latin typeface="Times New Roman"/>
                <a:cs typeface="Times New Roman"/>
              </a:rPr>
              <a:t>University, </a:t>
            </a:r>
            <a:r>
              <a:rPr sz="1500" spc="-10" dirty="0">
                <a:latin typeface="Times New Roman"/>
                <a:cs typeface="Times New Roman"/>
              </a:rPr>
              <a:t>Pune)</a:t>
            </a:r>
            <a:endParaRPr sz="1500" dirty="0">
              <a:latin typeface="Times New Roman"/>
              <a:cs typeface="Times New Roman"/>
            </a:endParaRPr>
          </a:p>
          <a:p>
            <a:pPr marL="8255" algn="ctr">
              <a:lnSpc>
                <a:spcPct val="100000"/>
              </a:lnSpc>
              <a:spcBef>
                <a:spcPts val="600"/>
              </a:spcBef>
            </a:pPr>
            <a:r>
              <a:rPr sz="1500" b="1" dirty="0">
                <a:solidFill>
                  <a:srgbClr val="FFFFFF"/>
                </a:solidFill>
                <a:latin typeface="Times New Roman"/>
                <a:cs typeface="Times New Roman"/>
              </a:rPr>
              <a:t>NAAC</a:t>
            </a:r>
            <a:r>
              <a:rPr sz="1500" b="1" spc="45" dirty="0">
                <a:solidFill>
                  <a:srgbClr val="FFFFFF"/>
                </a:solidFill>
                <a:latin typeface="Times New Roman"/>
                <a:cs typeface="Times New Roman"/>
              </a:rPr>
              <a:t> </a:t>
            </a:r>
            <a:r>
              <a:rPr sz="1500" b="1" spc="-45" dirty="0">
                <a:solidFill>
                  <a:srgbClr val="FFFFFF"/>
                </a:solidFill>
                <a:latin typeface="Times New Roman"/>
                <a:cs typeface="Times New Roman"/>
              </a:rPr>
              <a:t>‘A’Grade</a:t>
            </a:r>
            <a:r>
              <a:rPr sz="1500" b="1" spc="-220" dirty="0">
                <a:solidFill>
                  <a:srgbClr val="FFFFFF"/>
                </a:solidFill>
                <a:latin typeface="Times New Roman"/>
                <a:cs typeface="Times New Roman"/>
              </a:rPr>
              <a:t> </a:t>
            </a:r>
            <a:r>
              <a:rPr sz="1500" b="1" spc="-10" dirty="0">
                <a:solidFill>
                  <a:srgbClr val="FFFFFF"/>
                </a:solidFill>
                <a:latin typeface="Times New Roman"/>
                <a:cs typeface="Times New Roman"/>
              </a:rPr>
              <a:t>Accredited</a:t>
            </a:r>
            <a:endParaRPr sz="1500" dirty="0">
              <a:latin typeface="Times New Roman"/>
              <a:cs typeface="Times New Roman"/>
            </a:endParaRPr>
          </a:p>
          <a:p>
            <a:pPr marL="722630">
              <a:lnSpc>
                <a:spcPct val="100000"/>
              </a:lnSpc>
              <a:spcBef>
                <a:spcPts val="475"/>
              </a:spcBef>
            </a:pPr>
            <a:r>
              <a:rPr sz="2200" b="1" dirty="0">
                <a:solidFill>
                  <a:srgbClr val="E195DF"/>
                </a:solidFill>
                <a:latin typeface="Times New Roman"/>
                <a:cs typeface="Times New Roman"/>
              </a:rPr>
              <a:t>Department</a:t>
            </a:r>
            <a:r>
              <a:rPr sz="2200" b="1" spc="-80" dirty="0">
                <a:solidFill>
                  <a:srgbClr val="E195DF"/>
                </a:solidFill>
                <a:latin typeface="Times New Roman"/>
                <a:cs typeface="Times New Roman"/>
              </a:rPr>
              <a:t> </a:t>
            </a:r>
            <a:r>
              <a:rPr sz="2200" b="1" dirty="0">
                <a:solidFill>
                  <a:srgbClr val="E195DF"/>
                </a:solidFill>
                <a:latin typeface="Times New Roman"/>
                <a:cs typeface="Times New Roman"/>
              </a:rPr>
              <a:t>of</a:t>
            </a:r>
            <a:r>
              <a:rPr sz="2200" b="1" spc="-125" dirty="0">
                <a:solidFill>
                  <a:srgbClr val="E195DF"/>
                </a:solidFill>
                <a:latin typeface="Times New Roman"/>
                <a:cs typeface="Times New Roman"/>
              </a:rPr>
              <a:t> </a:t>
            </a:r>
            <a:r>
              <a:rPr sz="2200" b="1" spc="-35" dirty="0">
                <a:solidFill>
                  <a:srgbClr val="E195DF"/>
                </a:solidFill>
                <a:latin typeface="Times New Roman"/>
                <a:cs typeface="Times New Roman"/>
              </a:rPr>
              <a:t>Information</a:t>
            </a:r>
            <a:r>
              <a:rPr sz="2200" b="1" spc="-105" dirty="0">
                <a:solidFill>
                  <a:srgbClr val="E195DF"/>
                </a:solidFill>
                <a:latin typeface="Times New Roman"/>
                <a:cs typeface="Times New Roman"/>
              </a:rPr>
              <a:t> </a:t>
            </a:r>
            <a:r>
              <a:rPr sz="2200" b="1" spc="-10" dirty="0">
                <a:solidFill>
                  <a:srgbClr val="E195DF"/>
                </a:solidFill>
                <a:latin typeface="Times New Roman"/>
                <a:cs typeface="Times New Roman"/>
              </a:rPr>
              <a:t>Technology</a:t>
            </a:r>
            <a:endParaRPr sz="2200" dirty="0">
              <a:latin typeface="Times New Roman"/>
              <a:cs typeface="Times New Roman"/>
            </a:endParaRPr>
          </a:p>
          <a:p>
            <a:pPr marL="13970" algn="ctr">
              <a:lnSpc>
                <a:spcPct val="100000"/>
              </a:lnSpc>
              <a:spcBef>
                <a:spcPts val="625"/>
              </a:spcBef>
            </a:pPr>
            <a:r>
              <a:rPr sz="1600" b="1" dirty="0">
                <a:latin typeface="Times New Roman"/>
                <a:cs typeface="Times New Roman"/>
              </a:rPr>
              <a:t>(UG</a:t>
            </a:r>
            <a:r>
              <a:rPr sz="1600" b="1" spc="-100" dirty="0">
                <a:latin typeface="Times New Roman"/>
                <a:cs typeface="Times New Roman"/>
              </a:rPr>
              <a:t> </a:t>
            </a:r>
            <a:r>
              <a:rPr sz="1600" b="1" spc="-20" dirty="0">
                <a:latin typeface="Times New Roman"/>
                <a:cs typeface="Times New Roman"/>
              </a:rPr>
              <a:t>program,</a:t>
            </a:r>
            <a:r>
              <a:rPr sz="1600" b="1" spc="-55" dirty="0">
                <a:latin typeface="Times New Roman"/>
                <a:cs typeface="Times New Roman"/>
              </a:rPr>
              <a:t> </a:t>
            </a:r>
            <a:r>
              <a:rPr sz="1600" b="1" spc="-10" dirty="0">
                <a:latin typeface="Times New Roman"/>
                <a:cs typeface="Times New Roman"/>
              </a:rPr>
              <a:t>NBAAccredited)</a:t>
            </a:r>
            <a:endParaRPr sz="1600" dirty="0">
              <a:latin typeface="Times New Roman"/>
              <a:cs typeface="Times New Roman"/>
            </a:endParaRPr>
          </a:p>
          <a:p>
            <a:pPr marR="253365" algn="ctr">
              <a:lnSpc>
                <a:spcPct val="100000"/>
              </a:lnSpc>
              <a:spcBef>
                <a:spcPts val="765"/>
              </a:spcBef>
            </a:pPr>
            <a:r>
              <a:rPr sz="2600" b="1" spc="-20" dirty="0">
                <a:latin typeface="Times New Roman"/>
                <a:cs typeface="Times New Roman"/>
              </a:rPr>
              <a:t>Academic</a:t>
            </a:r>
            <a:r>
              <a:rPr sz="2600" b="1" spc="-114" dirty="0">
                <a:latin typeface="Times New Roman"/>
                <a:cs typeface="Times New Roman"/>
              </a:rPr>
              <a:t> </a:t>
            </a:r>
            <a:r>
              <a:rPr sz="2600" b="1" spc="-85" dirty="0">
                <a:latin typeface="Times New Roman"/>
                <a:cs typeface="Times New Roman"/>
              </a:rPr>
              <a:t>Year</a:t>
            </a:r>
            <a:r>
              <a:rPr sz="2600" b="1" spc="-60" dirty="0">
                <a:latin typeface="Times New Roman"/>
                <a:cs typeface="Times New Roman"/>
              </a:rPr>
              <a:t> </a:t>
            </a:r>
            <a:r>
              <a:rPr sz="2600" b="1" spc="-10" dirty="0">
                <a:latin typeface="Times New Roman"/>
                <a:cs typeface="Times New Roman"/>
              </a:rPr>
              <a:t>2026-</a:t>
            </a:r>
            <a:r>
              <a:rPr sz="2600" b="1" spc="-25" dirty="0">
                <a:latin typeface="Times New Roman"/>
                <a:cs typeface="Times New Roman"/>
              </a:rPr>
              <a:t>27</a:t>
            </a:r>
            <a:endParaRPr sz="2600" dirty="0">
              <a:latin typeface="Times New Roman"/>
              <a:cs typeface="Times New Roman"/>
            </a:endParaRPr>
          </a:p>
          <a:p>
            <a:pPr marL="645160">
              <a:lnSpc>
                <a:spcPct val="100000"/>
              </a:lnSpc>
              <a:spcBef>
                <a:spcPts val="765"/>
              </a:spcBef>
            </a:pPr>
            <a:r>
              <a:rPr sz="3600" b="1" dirty="0">
                <a:latin typeface="Times New Roman"/>
                <a:cs typeface="Times New Roman"/>
              </a:rPr>
              <a:t>Project</a:t>
            </a:r>
            <a:r>
              <a:rPr sz="3600" b="1" spc="-85" dirty="0">
                <a:latin typeface="Times New Roman"/>
                <a:cs typeface="Times New Roman"/>
              </a:rPr>
              <a:t> </a:t>
            </a:r>
            <a:r>
              <a:rPr sz="3600" b="1" dirty="0">
                <a:latin typeface="Times New Roman"/>
                <a:cs typeface="Times New Roman"/>
              </a:rPr>
              <a:t>Idea</a:t>
            </a:r>
            <a:r>
              <a:rPr sz="3600" b="1" spc="-90" dirty="0">
                <a:latin typeface="Times New Roman"/>
                <a:cs typeface="Times New Roman"/>
              </a:rPr>
              <a:t> </a:t>
            </a:r>
            <a:r>
              <a:rPr sz="3600" b="1" spc="-10" dirty="0">
                <a:latin typeface="Times New Roman"/>
                <a:cs typeface="Times New Roman"/>
              </a:rPr>
              <a:t>Presentation</a:t>
            </a:r>
            <a:endParaRPr sz="3600" dirty="0">
              <a:latin typeface="Times New Roman"/>
              <a:cs typeface="Times New Roman"/>
            </a:endParaRPr>
          </a:p>
        </p:txBody>
      </p:sp>
      <p:sp>
        <p:nvSpPr>
          <p:cNvPr id="9" name="object 9"/>
          <p:cNvSpPr txBox="1"/>
          <p:nvPr/>
        </p:nvSpPr>
        <p:spPr>
          <a:xfrm>
            <a:off x="347573" y="6585213"/>
            <a:ext cx="1918335" cy="222885"/>
          </a:xfrm>
          <a:prstGeom prst="rect">
            <a:avLst/>
          </a:prstGeom>
        </p:spPr>
        <p:txBody>
          <a:bodyPr vert="horz" wrap="square" lIns="0" tIns="0" rIns="0" bIns="0" rtlCol="0">
            <a:spAutoFit/>
          </a:bodyPr>
          <a:lstStyle/>
          <a:p>
            <a:pPr marL="12700">
              <a:lnSpc>
                <a:spcPts val="1630"/>
              </a:lnSpc>
            </a:pPr>
            <a:r>
              <a:rPr sz="1400" b="1" dirty="0">
                <a:solidFill>
                  <a:srgbClr val="D362D2"/>
                </a:solidFill>
                <a:latin typeface="Times New Roman"/>
                <a:cs typeface="Times New Roman"/>
              </a:rPr>
              <a:t>Project</a:t>
            </a:r>
            <a:r>
              <a:rPr sz="1400" b="1" spc="-10" dirty="0">
                <a:solidFill>
                  <a:srgbClr val="D362D2"/>
                </a:solidFill>
                <a:latin typeface="Times New Roman"/>
                <a:cs typeface="Times New Roman"/>
              </a:rPr>
              <a:t> </a:t>
            </a:r>
            <a:r>
              <a:rPr sz="1400" b="1" spc="-20" dirty="0">
                <a:solidFill>
                  <a:srgbClr val="D362D2"/>
                </a:solidFill>
                <a:latin typeface="Times New Roman"/>
                <a:cs typeface="Times New Roman"/>
              </a:rPr>
              <a:t>Idea</a:t>
            </a:r>
            <a:r>
              <a:rPr sz="1400" b="1" spc="-45" dirty="0">
                <a:solidFill>
                  <a:srgbClr val="D362D2"/>
                </a:solidFill>
                <a:latin typeface="Times New Roman"/>
                <a:cs typeface="Times New Roman"/>
              </a:rPr>
              <a:t> </a:t>
            </a:r>
            <a:r>
              <a:rPr sz="1400" b="1" spc="-20" dirty="0">
                <a:solidFill>
                  <a:srgbClr val="D362D2"/>
                </a:solidFill>
                <a:latin typeface="Times New Roman"/>
                <a:cs typeface="Times New Roman"/>
              </a:rPr>
              <a:t>Presentation</a:t>
            </a:r>
            <a:endParaRPr sz="1400">
              <a:latin typeface="Times New Roman"/>
              <a:cs typeface="Times New Roman"/>
            </a:endParaRPr>
          </a:p>
        </p:txBody>
      </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3335">
              <a:lnSpc>
                <a:spcPts val="1630"/>
              </a:lnSpc>
            </a:pPr>
            <a:r>
              <a:rPr dirty="0"/>
              <a:t>2026-</a:t>
            </a:r>
            <a:r>
              <a:rPr spc="-20" dirty="0"/>
              <a:t>2027</a:t>
            </a: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87325">
              <a:lnSpc>
                <a:spcPts val="1630"/>
              </a:lnSpc>
            </a:pPr>
            <a:r>
              <a:rPr spc="-35" dirty="0"/>
              <a:t>Department</a:t>
            </a:r>
            <a:r>
              <a:rPr spc="-30" dirty="0"/>
              <a:t> </a:t>
            </a:r>
            <a:r>
              <a:rPr dirty="0"/>
              <a:t>of</a:t>
            </a:r>
            <a:r>
              <a:rPr spc="65" dirty="0"/>
              <a:t> </a:t>
            </a:r>
            <a:r>
              <a:rPr spc="-30" dirty="0"/>
              <a:t>Information</a:t>
            </a:r>
            <a:r>
              <a:rPr spc="-120" dirty="0"/>
              <a:t> </a:t>
            </a:r>
            <a:r>
              <a:rPr spc="-10" dirty="0"/>
              <a:t>Technology</a:t>
            </a:r>
          </a:p>
        </p:txBody>
      </p:sp>
      <p:sp>
        <p:nvSpPr>
          <p:cNvPr id="8" name="object 8"/>
          <p:cNvSpPr txBox="1"/>
          <p:nvPr/>
        </p:nvSpPr>
        <p:spPr>
          <a:xfrm>
            <a:off x="3352800" y="3581400"/>
            <a:ext cx="6858000" cy="1441420"/>
          </a:xfrm>
          <a:prstGeom prst="rect">
            <a:avLst/>
          </a:prstGeom>
        </p:spPr>
        <p:txBody>
          <a:bodyPr vert="horz" wrap="square" lIns="0" tIns="12700" rIns="0" bIns="0" rtlCol="0">
            <a:spAutoFit/>
          </a:bodyPr>
          <a:lstStyle/>
          <a:p>
            <a:pPr marL="12700">
              <a:lnSpc>
                <a:spcPct val="100000"/>
              </a:lnSpc>
              <a:spcBef>
                <a:spcPts val="100"/>
              </a:spcBef>
            </a:pPr>
            <a:r>
              <a:rPr lang="en-US" sz="2400" b="1" spc="-45" dirty="0">
                <a:solidFill>
                  <a:schemeClr val="tx1"/>
                </a:solidFill>
                <a:latin typeface="Times New Roman"/>
                <a:cs typeface="Times New Roman"/>
              </a:rPr>
              <a:t>“</a:t>
            </a:r>
            <a:r>
              <a:rPr lang="en-IN" sz="2000" b="1" dirty="0">
                <a:solidFill>
                  <a:schemeClr val="tx1"/>
                </a:solidFill>
                <a:latin typeface="Times New Roman" panose="02020603050405020304" pitchFamily="18" charset="0"/>
                <a:cs typeface="Times New Roman" panose="02020603050405020304" pitchFamily="18" charset="0"/>
              </a:rPr>
              <a:t>A</a:t>
            </a:r>
            <a:r>
              <a:rPr lang="en-IN" sz="2000" b="1" dirty="0">
                <a:latin typeface="Times New Roman" panose="02020603050405020304" pitchFamily="18" charset="0"/>
                <a:cs typeface="Times New Roman" panose="02020603050405020304" pitchFamily="18" charset="0"/>
              </a:rPr>
              <a:t>n Intelligent NLP System for Legal and Employment Document Risk Analysis with Multiplatform Delivery</a:t>
            </a:r>
            <a:r>
              <a:rPr lang="en-US" sz="2400" b="1" dirty="0">
                <a:solidFill>
                  <a:schemeClr val="tx1"/>
                </a:solidFill>
                <a:latin typeface="Times New Roman" panose="02020603050405020304" pitchFamily="18" charset="0"/>
                <a:cs typeface="Times New Roman" panose="02020603050405020304" pitchFamily="18" charset="0"/>
              </a:rPr>
              <a:t>”</a:t>
            </a:r>
            <a:endParaRPr sz="2400" b="1" dirty="0">
              <a:solidFill>
                <a:schemeClr val="tx1"/>
              </a:solidFill>
              <a:latin typeface="Times New Roman" panose="02020603050405020304" pitchFamily="18" charset="0"/>
              <a:cs typeface="Times New Roman" panose="02020603050405020304" pitchFamily="18" charset="0"/>
            </a:endParaRPr>
          </a:p>
          <a:p>
            <a:pPr>
              <a:lnSpc>
                <a:spcPct val="100000"/>
              </a:lnSpc>
              <a:spcBef>
                <a:spcPts val="114"/>
              </a:spcBef>
            </a:pPr>
            <a:endParaRPr sz="2400" dirty="0">
              <a:solidFill>
                <a:schemeClr val="bg1"/>
              </a:solidFill>
              <a:latin typeface="Times New Roman"/>
              <a:cs typeface="Times New Roman"/>
            </a:endParaRPr>
          </a:p>
          <a:p>
            <a:pPr marL="1878964">
              <a:lnSpc>
                <a:spcPct val="100000"/>
              </a:lnSpc>
            </a:pPr>
            <a:endParaRPr sz="2000" dirty="0">
              <a:latin typeface="Times New Roman"/>
              <a:cs typeface="Times New Roman"/>
            </a:endParaRPr>
          </a:p>
        </p:txBody>
      </p:sp>
      <p:sp>
        <p:nvSpPr>
          <p:cNvPr id="12" name="TextBox 11">
            <a:extLst>
              <a:ext uri="{FF2B5EF4-FFF2-40B4-BE49-F238E27FC236}">
                <a16:creationId xmlns:a16="http://schemas.microsoft.com/office/drawing/2014/main" id="{8C0A12E3-A4B5-6ED7-59F0-440F121805ED}"/>
              </a:ext>
            </a:extLst>
          </p:cNvPr>
          <p:cNvSpPr txBox="1"/>
          <p:nvPr/>
        </p:nvSpPr>
        <p:spPr>
          <a:xfrm>
            <a:off x="8229600" y="4572000"/>
            <a:ext cx="3276600" cy="147732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Team Member </a:t>
            </a:r>
          </a:p>
          <a:p>
            <a:r>
              <a:rPr lang="en-IN" b="1" dirty="0">
                <a:latin typeface="Times New Roman" panose="02020603050405020304" pitchFamily="18" charset="0"/>
                <a:cs typeface="Times New Roman" panose="02020603050405020304" pitchFamily="18" charset="0"/>
              </a:rPr>
              <a:t>Sushant More </a:t>
            </a:r>
          </a:p>
          <a:p>
            <a:r>
              <a:rPr lang="en-IN" b="1" dirty="0">
                <a:latin typeface="Times New Roman" panose="02020603050405020304" pitchFamily="18" charset="0"/>
                <a:cs typeface="Times New Roman" panose="02020603050405020304" pitchFamily="18" charset="0"/>
              </a:rPr>
              <a:t>Varun Pawar </a:t>
            </a:r>
          </a:p>
          <a:p>
            <a:r>
              <a:rPr lang="en-IN" b="1" dirty="0">
                <a:latin typeface="Times New Roman" panose="02020603050405020304" pitchFamily="18" charset="0"/>
                <a:cs typeface="Times New Roman" panose="02020603050405020304" pitchFamily="18" charset="0"/>
              </a:rPr>
              <a:t>Pratiksha Rahane </a:t>
            </a:r>
          </a:p>
          <a:p>
            <a:r>
              <a:rPr lang="en-IN" b="1" dirty="0">
                <a:latin typeface="Times New Roman" panose="02020603050405020304" pitchFamily="18" charset="0"/>
                <a:cs typeface="Times New Roman" panose="02020603050405020304" pitchFamily="18" charset="0"/>
              </a:rPr>
              <a:t>Payal Shinde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1587480" cy="6856730"/>
            <a:chOff x="0" y="0"/>
            <a:chExt cx="11587480" cy="6856730"/>
          </a:xfrm>
        </p:grpSpPr>
        <p:sp>
          <p:nvSpPr>
            <p:cNvPr id="3" name="object 3"/>
            <p:cNvSpPr/>
            <p:nvPr/>
          </p:nvSpPr>
          <p:spPr>
            <a:xfrm>
              <a:off x="604266" y="1197102"/>
              <a:ext cx="10982960" cy="0"/>
            </a:xfrm>
            <a:custGeom>
              <a:avLst/>
              <a:gdLst/>
              <a:ahLst/>
              <a:cxnLst/>
              <a:rect l="l" t="t" r="r" b="b"/>
              <a:pathLst>
                <a:path w="10982960">
                  <a:moveTo>
                    <a:pt x="0" y="0"/>
                  </a:moveTo>
                  <a:lnTo>
                    <a:pt x="10982960" y="0"/>
                  </a:lnTo>
                </a:path>
              </a:pathLst>
            </a:custGeom>
            <a:ln w="25908">
              <a:solidFill>
                <a:srgbClr val="D24623"/>
              </a:solidFill>
            </a:ln>
          </p:spPr>
          <p:txBody>
            <a:bodyPr wrap="square" lIns="0" tIns="0" rIns="0" bIns="0" rtlCol="0"/>
            <a:lstStyle/>
            <a:p>
              <a:endParaRPr/>
            </a:p>
          </p:txBody>
        </p:sp>
        <p:pic>
          <p:nvPicPr>
            <p:cNvPr id="4" name="object 4"/>
            <p:cNvPicPr/>
            <p:nvPr/>
          </p:nvPicPr>
          <p:blipFill>
            <a:blip r:embed="rId2" cstate="print"/>
            <a:stretch>
              <a:fillRect/>
            </a:stretch>
          </p:blipFill>
          <p:spPr>
            <a:xfrm>
              <a:off x="329184" y="100584"/>
              <a:ext cx="931163" cy="1046987"/>
            </a:xfrm>
            <a:prstGeom prst="rect">
              <a:avLst/>
            </a:prstGeom>
          </p:spPr>
        </p:pic>
        <p:pic>
          <p:nvPicPr>
            <p:cNvPr id="5" name="object 5"/>
            <p:cNvPicPr/>
            <p:nvPr/>
          </p:nvPicPr>
          <p:blipFill>
            <a:blip r:embed="rId3" cstate="print"/>
            <a:stretch>
              <a:fillRect/>
            </a:stretch>
          </p:blipFill>
          <p:spPr>
            <a:xfrm>
              <a:off x="0" y="0"/>
              <a:ext cx="326136" cy="6856475"/>
            </a:xfrm>
            <a:prstGeom prst="rect">
              <a:avLst/>
            </a:prstGeom>
          </p:spPr>
        </p:pic>
        <p:sp>
          <p:nvSpPr>
            <p:cNvPr id="6" name="object 6"/>
            <p:cNvSpPr/>
            <p:nvPr/>
          </p:nvSpPr>
          <p:spPr>
            <a:xfrm>
              <a:off x="0" y="0"/>
              <a:ext cx="271145" cy="6854825"/>
            </a:xfrm>
            <a:custGeom>
              <a:avLst/>
              <a:gdLst/>
              <a:ahLst/>
              <a:cxnLst/>
              <a:rect l="l" t="t" r="r" b="b"/>
              <a:pathLst>
                <a:path w="271145" h="6854825">
                  <a:moveTo>
                    <a:pt x="270738" y="0"/>
                  </a:moveTo>
                  <a:lnTo>
                    <a:pt x="0" y="0"/>
                  </a:lnTo>
                  <a:lnTo>
                    <a:pt x="0" y="6854444"/>
                  </a:lnTo>
                  <a:lnTo>
                    <a:pt x="270738" y="6854444"/>
                  </a:lnTo>
                  <a:lnTo>
                    <a:pt x="270738" y="0"/>
                  </a:lnTo>
                  <a:close/>
                </a:path>
              </a:pathLst>
            </a:custGeom>
            <a:solidFill>
              <a:srgbClr val="FF5050"/>
            </a:solidFill>
          </p:spPr>
          <p:txBody>
            <a:bodyPr wrap="square" lIns="0" tIns="0" rIns="0" bIns="0" rtlCol="0"/>
            <a:lstStyle/>
            <a:p>
              <a:endParaRPr/>
            </a:p>
          </p:txBody>
        </p:sp>
      </p:grpSp>
      <p:sp>
        <p:nvSpPr>
          <p:cNvPr id="7" name="object 7"/>
          <p:cNvSpPr txBox="1">
            <a:spLocks noGrp="1"/>
          </p:cNvSpPr>
          <p:nvPr>
            <p:ph type="title"/>
          </p:nvPr>
        </p:nvSpPr>
        <p:spPr>
          <a:xfrm>
            <a:off x="1715261" y="352424"/>
            <a:ext cx="1765300" cy="635000"/>
          </a:xfrm>
          <a:prstGeom prst="rect">
            <a:avLst/>
          </a:prstGeom>
        </p:spPr>
        <p:txBody>
          <a:bodyPr vert="horz" wrap="square" lIns="0" tIns="12065" rIns="0" bIns="0" rtlCol="0">
            <a:spAutoFit/>
          </a:bodyPr>
          <a:lstStyle/>
          <a:p>
            <a:pPr marL="12700">
              <a:lnSpc>
                <a:spcPct val="100000"/>
              </a:lnSpc>
              <a:spcBef>
                <a:spcPts val="95"/>
              </a:spcBef>
            </a:pPr>
            <a:r>
              <a:rPr sz="4000" spc="-10" dirty="0"/>
              <a:t>Content</a:t>
            </a:r>
            <a:endParaRPr sz="4000"/>
          </a:p>
        </p:txBody>
      </p:sp>
      <p:sp>
        <p:nvSpPr>
          <p:cNvPr id="9" name="object 9"/>
          <p:cNvSpPr txBox="1"/>
          <p:nvPr/>
        </p:nvSpPr>
        <p:spPr>
          <a:xfrm>
            <a:off x="347573" y="6585213"/>
            <a:ext cx="1918335" cy="222885"/>
          </a:xfrm>
          <a:prstGeom prst="rect">
            <a:avLst/>
          </a:prstGeom>
        </p:spPr>
        <p:txBody>
          <a:bodyPr vert="horz" wrap="square" lIns="0" tIns="0" rIns="0" bIns="0" rtlCol="0">
            <a:spAutoFit/>
          </a:bodyPr>
          <a:lstStyle/>
          <a:p>
            <a:pPr marL="12700">
              <a:lnSpc>
                <a:spcPts val="1630"/>
              </a:lnSpc>
            </a:pPr>
            <a:r>
              <a:rPr sz="1400" b="1" dirty="0">
                <a:solidFill>
                  <a:srgbClr val="D362D2"/>
                </a:solidFill>
                <a:latin typeface="Times New Roman"/>
                <a:cs typeface="Times New Roman"/>
              </a:rPr>
              <a:t>Project</a:t>
            </a:r>
            <a:r>
              <a:rPr sz="1400" b="1" spc="-10" dirty="0">
                <a:solidFill>
                  <a:srgbClr val="D362D2"/>
                </a:solidFill>
                <a:latin typeface="Times New Roman"/>
                <a:cs typeface="Times New Roman"/>
              </a:rPr>
              <a:t> </a:t>
            </a:r>
            <a:r>
              <a:rPr sz="1400" b="1" spc="-20" dirty="0">
                <a:solidFill>
                  <a:srgbClr val="D362D2"/>
                </a:solidFill>
                <a:latin typeface="Times New Roman"/>
                <a:cs typeface="Times New Roman"/>
              </a:rPr>
              <a:t>Idea</a:t>
            </a:r>
            <a:r>
              <a:rPr sz="1400" b="1" spc="-45" dirty="0">
                <a:solidFill>
                  <a:srgbClr val="D362D2"/>
                </a:solidFill>
                <a:latin typeface="Times New Roman"/>
                <a:cs typeface="Times New Roman"/>
              </a:rPr>
              <a:t> </a:t>
            </a:r>
            <a:r>
              <a:rPr sz="1400" b="1" spc="-20" dirty="0">
                <a:solidFill>
                  <a:srgbClr val="D362D2"/>
                </a:solidFill>
                <a:latin typeface="Times New Roman"/>
                <a:cs typeface="Times New Roman"/>
              </a:rPr>
              <a:t>Presentation</a:t>
            </a:r>
            <a:endParaRPr sz="1400">
              <a:latin typeface="Times New Roman"/>
              <a:cs typeface="Times New Roman"/>
            </a:endParaRPr>
          </a:p>
        </p:txBody>
      </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3335">
              <a:lnSpc>
                <a:spcPts val="1630"/>
              </a:lnSpc>
            </a:pPr>
            <a:r>
              <a:rPr dirty="0"/>
              <a:t>2026-</a:t>
            </a:r>
            <a:r>
              <a:rPr spc="-20" dirty="0"/>
              <a:t>2027</a:t>
            </a: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87325">
              <a:lnSpc>
                <a:spcPts val="1630"/>
              </a:lnSpc>
            </a:pPr>
            <a:r>
              <a:rPr spc="-35" dirty="0"/>
              <a:t>Department</a:t>
            </a:r>
            <a:r>
              <a:rPr spc="-30" dirty="0"/>
              <a:t> </a:t>
            </a:r>
            <a:r>
              <a:rPr dirty="0"/>
              <a:t>of</a:t>
            </a:r>
            <a:r>
              <a:rPr spc="65" dirty="0"/>
              <a:t> </a:t>
            </a:r>
            <a:r>
              <a:rPr spc="-30" dirty="0"/>
              <a:t>Information</a:t>
            </a:r>
            <a:r>
              <a:rPr spc="-120" dirty="0"/>
              <a:t> </a:t>
            </a:r>
            <a:r>
              <a:rPr spc="-10" dirty="0"/>
              <a:t>Technology</a:t>
            </a:r>
          </a:p>
        </p:txBody>
      </p:sp>
      <p:sp>
        <p:nvSpPr>
          <p:cNvPr id="8" name="object 8"/>
          <p:cNvSpPr txBox="1">
            <a:spLocks noGrp="1"/>
          </p:cNvSpPr>
          <p:nvPr>
            <p:ph type="body" idx="1"/>
          </p:nvPr>
        </p:nvSpPr>
        <p:spPr>
          <a:xfrm>
            <a:off x="834034" y="1267815"/>
            <a:ext cx="9529166" cy="4758354"/>
          </a:xfrm>
          <a:prstGeom prst="rect">
            <a:avLst/>
          </a:prstGeom>
        </p:spPr>
        <p:txBody>
          <a:bodyPr vert="horz" wrap="square" lIns="0" tIns="178435" rIns="0" bIns="0" rtlCol="0">
            <a:spAutoFit/>
          </a:bodyPr>
          <a:lstStyle/>
          <a:p>
            <a:pPr marL="469900" indent="-457200">
              <a:lnSpc>
                <a:spcPct val="100000"/>
              </a:lnSpc>
              <a:spcBef>
                <a:spcPts val="1405"/>
              </a:spcBef>
              <a:buFont typeface="+mj-lt"/>
              <a:buAutoNum type="arabicPeriod"/>
              <a:tabLst>
                <a:tab pos="354965" algn="l"/>
              </a:tabLst>
            </a:pPr>
            <a:r>
              <a:rPr spc="-10" dirty="0"/>
              <a:t>Problem</a:t>
            </a:r>
            <a:r>
              <a:rPr spc="-105" dirty="0"/>
              <a:t> </a:t>
            </a:r>
            <a:r>
              <a:rPr dirty="0"/>
              <a:t>Statement</a:t>
            </a:r>
            <a:r>
              <a:rPr spc="-75" dirty="0"/>
              <a:t> </a:t>
            </a:r>
            <a:r>
              <a:rPr dirty="0"/>
              <a:t>/</a:t>
            </a:r>
            <a:r>
              <a:rPr spc="-100" dirty="0"/>
              <a:t> </a:t>
            </a:r>
            <a:r>
              <a:rPr spc="-80" dirty="0"/>
              <a:t>Idea</a:t>
            </a:r>
            <a:r>
              <a:rPr spc="-245" dirty="0"/>
              <a:t> </a:t>
            </a:r>
            <a:r>
              <a:rPr spc="-20" dirty="0"/>
              <a:t>Title</a:t>
            </a:r>
          </a:p>
          <a:p>
            <a:pPr marL="469900" indent="-457200">
              <a:lnSpc>
                <a:spcPct val="100000"/>
              </a:lnSpc>
              <a:spcBef>
                <a:spcPts val="1310"/>
              </a:spcBef>
              <a:buFont typeface="+mj-lt"/>
              <a:buAutoNum type="arabicPeriod"/>
              <a:tabLst>
                <a:tab pos="354965" algn="l"/>
              </a:tabLst>
            </a:pPr>
            <a:r>
              <a:rPr spc="-10" dirty="0"/>
              <a:t>Abstract</a:t>
            </a:r>
          </a:p>
          <a:p>
            <a:pPr marL="469900" indent="-457200">
              <a:lnSpc>
                <a:spcPct val="100000"/>
              </a:lnSpc>
              <a:spcBef>
                <a:spcPts val="1295"/>
              </a:spcBef>
              <a:buFont typeface="+mj-lt"/>
              <a:buAutoNum type="arabicPeriod"/>
              <a:tabLst>
                <a:tab pos="354965" algn="l"/>
              </a:tabLst>
            </a:pPr>
            <a:r>
              <a:rPr spc="-10" dirty="0"/>
              <a:t>Introduction</a:t>
            </a:r>
          </a:p>
          <a:p>
            <a:pPr marL="469900" indent="-457200">
              <a:lnSpc>
                <a:spcPct val="100000"/>
              </a:lnSpc>
              <a:spcBef>
                <a:spcPts val="1300"/>
              </a:spcBef>
              <a:buFont typeface="+mj-lt"/>
              <a:buAutoNum type="arabicPeriod"/>
              <a:tabLst>
                <a:tab pos="354965" algn="l"/>
              </a:tabLst>
            </a:pPr>
            <a:r>
              <a:rPr spc="-10" dirty="0"/>
              <a:t>Objectives</a:t>
            </a:r>
          </a:p>
          <a:p>
            <a:pPr marL="469900" indent="-457200">
              <a:lnSpc>
                <a:spcPct val="100000"/>
              </a:lnSpc>
              <a:spcBef>
                <a:spcPts val="1305"/>
              </a:spcBef>
              <a:buFont typeface="+mj-lt"/>
              <a:buAutoNum type="arabicPeriod"/>
              <a:tabLst>
                <a:tab pos="354965" algn="l"/>
              </a:tabLst>
            </a:pPr>
            <a:r>
              <a:rPr spc="-20" dirty="0"/>
              <a:t>Literature</a:t>
            </a:r>
            <a:r>
              <a:rPr spc="-35" dirty="0"/>
              <a:t> </a:t>
            </a:r>
            <a:r>
              <a:rPr spc="-10" dirty="0"/>
              <a:t>Survey</a:t>
            </a:r>
          </a:p>
          <a:p>
            <a:pPr marL="469900" indent="-457200">
              <a:lnSpc>
                <a:spcPct val="100000"/>
              </a:lnSpc>
              <a:spcBef>
                <a:spcPts val="1295"/>
              </a:spcBef>
              <a:buFont typeface="+mj-lt"/>
              <a:buAutoNum type="arabicPeriod"/>
              <a:tabLst>
                <a:tab pos="354965" algn="l"/>
              </a:tabLst>
            </a:pPr>
            <a:r>
              <a:rPr spc="-10" dirty="0"/>
              <a:t>Methodology</a:t>
            </a:r>
          </a:p>
          <a:p>
            <a:pPr marL="469900" indent="-457200">
              <a:lnSpc>
                <a:spcPct val="100000"/>
              </a:lnSpc>
              <a:spcBef>
                <a:spcPts val="1300"/>
              </a:spcBef>
              <a:buFont typeface="+mj-lt"/>
              <a:buAutoNum type="arabicPeriod"/>
              <a:tabLst>
                <a:tab pos="354965" algn="l"/>
              </a:tabLst>
            </a:pPr>
            <a:r>
              <a:rPr spc="-25" dirty="0"/>
              <a:t>Proposed</a:t>
            </a:r>
            <a:r>
              <a:rPr spc="-65" dirty="0"/>
              <a:t> </a:t>
            </a:r>
            <a:r>
              <a:rPr spc="-10" dirty="0"/>
              <a:t>system</a:t>
            </a:r>
          </a:p>
          <a:p>
            <a:pPr marL="469900" indent="-457200">
              <a:lnSpc>
                <a:spcPct val="100000"/>
              </a:lnSpc>
              <a:spcBef>
                <a:spcPts val="1310"/>
              </a:spcBef>
              <a:buFont typeface="+mj-lt"/>
              <a:buAutoNum type="arabicPeriod"/>
              <a:tabLst>
                <a:tab pos="354965" algn="l"/>
              </a:tabLst>
            </a:pPr>
            <a:r>
              <a:rPr spc="-20" dirty="0"/>
              <a:t>Software</a:t>
            </a:r>
            <a:r>
              <a:rPr spc="-95" dirty="0"/>
              <a:t> </a:t>
            </a:r>
            <a:r>
              <a:rPr dirty="0"/>
              <a:t>tools/</a:t>
            </a:r>
            <a:r>
              <a:rPr spc="-110" dirty="0"/>
              <a:t> </a:t>
            </a:r>
            <a:r>
              <a:rPr spc="-45" dirty="0"/>
              <a:t>Technologies</a:t>
            </a:r>
            <a:r>
              <a:rPr spc="-75" dirty="0"/>
              <a:t> </a:t>
            </a:r>
            <a:r>
              <a:rPr dirty="0"/>
              <a:t>to</a:t>
            </a:r>
            <a:r>
              <a:rPr spc="-40" dirty="0"/>
              <a:t> </a:t>
            </a:r>
            <a:r>
              <a:rPr dirty="0"/>
              <a:t>be</a:t>
            </a:r>
            <a:r>
              <a:rPr spc="-45" dirty="0"/>
              <a:t> </a:t>
            </a:r>
            <a:r>
              <a:rPr spc="-20" dirty="0"/>
              <a:t>used</a:t>
            </a:r>
          </a:p>
          <a:p>
            <a:pPr marL="469900" indent="-457200">
              <a:lnSpc>
                <a:spcPct val="100000"/>
              </a:lnSpc>
              <a:spcBef>
                <a:spcPts val="1295"/>
              </a:spcBef>
              <a:buSzPct val="95000"/>
              <a:buFont typeface="+mj-lt"/>
              <a:buAutoNum type="arabicPeriod"/>
              <a:tabLst>
                <a:tab pos="353695" algn="l"/>
              </a:tabLst>
            </a:pPr>
            <a:r>
              <a:rPr spc="-20" dirty="0"/>
              <a:t>Sustainable</a:t>
            </a:r>
            <a:r>
              <a:rPr spc="-95" dirty="0"/>
              <a:t> </a:t>
            </a:r>
            <a:r>
              <a:rPr dirty="0"/>
              <a:t>Development</a:t>
            </a:r>
            <a:r>
              <a:rPr spc="-10" dirty="0"/>
              <a:t> </a:t>
            </a:r>
            <a:r>
              <a:rPr spc="-35" dirty="0"/>
              <a:t>Goal(SDG)</a:t>
            </a:r>
            <a:r>
              <a:rPr spc="-225" dirty="0"/>
              <a:t> </a:t>
            </a:r>
            <a:r>
              <a:rPr spc="-25" dirty="0"/>
              <a:t>Achieved(Mention</a:t>
            </a:r>
            <a:r>
              <a:rPr spc="15" dirty="0"/>
              <a:t> </a:t>
            </a:r>
            <a:r>
              <a:rPr dirty="0"/>
              <a:t>SDG</a:t>
            </a:r>
            <a:r>
              <a:rPr spc="-65" dirty="0"/>
              <a:t> </a:t>
            </a:r>
            <a:r>
              <a:rPr spc="-10" dirty="0"/>
              <a:t>achieved</a:t>
            </a:r>
            <a:r>
              <a:rPr spc="-65" dirty="0"/>
              <a:t> </a:t>
            </a:r>
            <a:r>
              <a:rPr dirty="0"/>
              <a:t>by</a:t>
            </a:r>
            <a:r>
              <a:rPr spc="-65" dirty="0"/>
              <a:t> </a:t>
            </a:r>
            <a:r>
              <a:rPr spc="-10" dirty="0"/>
              <a:t>project)</a:t>
            </a:r>
          </a:p>
          <a:p>
            <a:pPr marL="469900" indent="-457200">
              <a:lnSpc>
                <a:spcPct val="100000"/>
              </a:lnSpc>
              <a:spcBef>
                <a:spcPts val="1300"/>
              </a:spcBef>
              <a:buSzPct val="95000"/>
              <a:buFont typeface="+mj-lt"/>
              <a:buAutoNum type="arabicPeriod"/>
              <a:tabLst>
                <a:tab pos="403860" algn="l"/>
              </a:tabLst>
            </a:pPr>
            <a:r>
              <a:rPr spc="-10" dirty="0"/>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z="4000" spc="-45" dirty="0"/>
              <a:t>Problem</a:t>
            </a:r>
            <a:r>
              <a:rPr sz="4000" spc="-190" dirty="0"/>
              <a:t> </a:t>
            </a:r>
            <a:r>
              <a:rPr sz="4000" spc="-10" dirty="0"/>
              <a:t>Statement</a:t>
            </a:r>
            <a:endParaRPr sz="4000" dirty="0"/>
          </a:p>
        </p:txBody>
      </p:sp>
      <p:sp>
        <p:nvSpPr>
          <p:cNvPr id="4" name="object 4"/>
          <p:cNvSpPr txBox="1"/>
          <p:nvPr/>
        </p:nvSpPr>
        <p:spPr>
          <a:xfrm>
            <a:off x="347573" y="6585213"/>
            <a:ext cx="1918335" cy="222885"/>
          </a:xfrm>
          <a:prstGeom prst="rect">
            <a:avLst/>
          </a:prstGeom>
        </p:spPr>
        <p:txBody>
          <a:bodyPr vert="horz" wrap="square" lIns="0" tIns="0" rIns="0" bIns="0" rtlCol="0">
            <a:spAutoFit/>
          </a:bodyPr>
          <a:lstStyle/>
          <a:p>
            <a:pPr marL="12700">
              <a:lnSpc>
                <a:spcPts val="1630"/>
              </a:lnSpc>
            </a:pPr>
            <a:r>
              <a:rPr sz="1400" b="1" dirty="0">
                <a:solidFill>
                  <a:srgbClr val="D362D2"/>
                </a:solidFill>
                <a:latin typeface="Times New Roman"/>
                <a:cs typeface="Times New Roman"/>
              </a:rPr>
              <a:t>Project</a:t>
            </a:r>
            <a:r>
              <a:rPr sz="1400" b="1" spc="-10" dirty="0">
                <a:solidFill>
                  <a:srgbClr val="D362D2"/>
                </a:solidFill>
                <a:latin typeface="Times New Roman"/>
                <a:cs typeface="Times New Roman"/>
              </a:rPr>
              <a:t> </a:t>
            </a:r>
            <a:r>
              <a:rPr sz="1400" b="1" spc="-20" dirty="0">
                <a:solidFill>
                  <a:srgbClr val="D362D2"/>
                </a:solidFill>
                <a:latin typeface="Times New Roman"/>
                <a:cs typeface="Times New Roman"/>
              </a:rPr>
              <a:t>Idea</a:t>
            </a:r>
            <a:r>
              <a:rPr sz="1400" b="1" spc="-45" dirty="0">
                <a:solidFill>
                  <a:srgbClr val="D362D2"/>
                </a:solidFill>
                <a:latin typeface="Times New Roman"/>
                <a:cs typeface="Times New Roman"/>
              </a:rPr>
              <a:t> </a:t>
            </a:r>
            <a:r>
              <a:rPr sz="1400" b="1" spc="-20" dirty="0">
                <a:solidFill>
                  <a:srgbClr val="D362D2"/>
                </a:solidFill>
                <a:latin typeface="Times New Roman"/>
                <a:cs typeface="Times New Roman"/>
              </a:rPr>
              <a:t>Presentation</a:t>
            </a:r>
            <a:endParaRPr sz="1400">
              <a:latin typeface="Times New Roman"/>
              <a:cs typeface="Times New Roman"/>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3335">
              <a:lnSpc>
                <a:spcPts val="1630"/>
              </a:lnSpc>
            </a:pPr>
            <a:r>
              <a:rPr dirty="0"/>
              <a:t>2026-</a:t>
            </a:r>
            <a:r>
              <a:rPr spc="-20" dirty="0"/>
              <a:t>2027</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87325">
              <a:lnSpc>
                <a:spcPts val="1630"/>
              </a:lnSpc>
            </a:pPr>
            <a:r>
              <a:rPr spc="-35" dirty="0"/>
              <a:t>Department</a:t>
            </a:r>
            <a:r>
              <a:rPr spc="-30" dirty="0"/>
              <a:t> </a:t>
            </a:r>
            <a:r>
              <a:rPr dirty="0"/>
              <a:t>of</a:t>
            </a:r>
            <a:r>
              <a:rPr spc="65" dirty="0"/>
              <a:t> </a:t>
            </a:r>
            <a:r>
              <a:rPr spc="-30" dirty="0"/>
              <a:t>Information</a:t>
            </a:r>
            <a:r>
              <a:rPr spc="-120" dirty="0"/>
              <a:t> </a:t>
            </a:r>
            <a:r>
              <a:rPr spc="-10" dirty="0"/>
              <a:t>Technology</a:t>
            </a:r>
          </a:p>
        </p:txBody>
      </p:sp>
      <p:sp>
        <p:nvSpPr>
          <p:cNvPr id="7" name="TextBox 6">
            <a:extLst>
              <a:ext uri="{FF2B5EF4-FFF2-40B4-BE49-F238E27FC236}">
                <a16:creationId xmlns:a16="http://schemas.microsoft.com/office/drawing/2014/main" id="{69252161-8BA1-CF67-A717-7544EF9F742C}"/>
              </a:ext>
            </a:extLst>
          </p:cNvPr>
          <p:cNvSpPr txBox="1"/>
          <p:nvPr/>
        </p:nvSpPr>
        <p:spPr>
          <a:xfrm>
            <a:off x="914400" y="1758455"/>
            <a:ext cx="10294899" cy="4062651"/>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Current Challenges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Legal documents are lengthy and difficult to understand.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Users often accept Terms &amp; Conditions without reading them.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Employment contracts contain hidden clauses.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Important legal risks are overlooked.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Legal consultation is expensive and time-consuming. </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Need</a:t>
            </a:r>
          </a:p>
          <a:p>
            <a:r>
              <a:rPr lang="en-IN" sz="2400" dirty="0">
                <a:latin typeface="Times New Roman" panose="02020603050405020304" pitchFamily="18" charset="0"/>
                <a:cs typeface="Times New Roman" panose="02020603050405020304" pitchFamily="18" charset="0"/>
              </a:rPr>
              <a:t>Develop an AI-powered system that simplifies legal documents into understandable insights while identifying potential risks</a:t>
            </a:r>
            <a:r>
              <a:rPr lang="en-IN" sz="2000"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1587480" cy="6856730"/>
            <a:chOff x="0" y="0"/>
            <a:chExt cx="11587480" cy="6856730"/>
          </a:xfrm>
        </p:grpSpPr>
        <p:pic>
          <p:nvPicPr>
            <p:cNvPr id="3" name="object 3"/>
            <p:cNvPicPr/>
            <p:nvPr/>
          </p:nvPicPr>
          <p:blipFill>
            <a:blip r:embed="rId2" cstate="print"/>
            <a:stretch>
              <a:fillRect/>
            </a:stretch>
          </p:blipFill>
          <p:spPr>
            <a:xfrm>
              <a:off x="329184" y="100584"/>
              <a:ext cx="931163" cy="1046987"/>
            </a:xfrm>
            <a:prstGeom prst="rect">
              <a:avLst/>
            </a:prstGeom>
          </p:spPr>
        </p:pic>
        <p:pic>
          <p:nvPicPr>
            <p:cNvPr id="4" name="object 4"/>
            <p:cNvPicPr/>
            <p:nvPr/>
          </p:nvPicPr>
          <p:blipFill>
            <a:blip r:embed="rId3" cstate="print"/>
            <a:stretch>
              <a:fillRect/>
            </a:stretch>
          </p:blipFill>
          <p:spPr>
            <a:xfrm>
              <a:off x="0" y="0"/>
              <a:ext cx="326136" cy="6856475"/>
            </a:xfrm>
            <a:prstGeom prst="rect">
              <a:avLst/>
            </a:prstGeom>
          </p:spPr>
        </p:pic>
        <p:sp>
          <p:nvSpPr>
            <p:cNvPr id="5" name="object 5"/>
            <p:cNvSpPr/>
            <p:nvPr/>
          </p:nvSpPr>
          <p:spPr>
            <a:xfrm>
              <a:off x="0" y="0"/>
              <a:ext cx="271145" cy="6854825"/>
            </a:xfrm>
            <a:custGeom>
              <a:avLst/>
              <a:gdLst/>
              <a:ahLst/>
              <a:cxnLst/>
              <a:rect l="l" t="t" r="r" b="b"/>
              <a:pathLst>
                <a:path w="271145" h="6854825">
                  <a:moveTo>
                    <a:pt x="270738" y="0"/>
                  </a:moveTo>
                  <a:lnTo>
                    <a:pt x="0" y="0"/>
                  </a:lnTo>
                  <a:lnTo>
                    <a:pt x="0" y="6854444"/>
                  </a:lnTo>
                  <a:lnTo>
                    <a:pt x="270738" y="6854444"/>
                  </a:lnTo>
                  <a:lnTo>
                    <a:pt x="270738" y="0"/>
                  </a:lnTo>
                  <a:close/>
                </a:path>
              </a:pathLst>
            </a:custGeom>
            <a:solidFill>
              <a:srgbClr val="FF5050"/>
            </a:solidFill>
          </p:spPr>
          <p:txBody>
            <a:bodyPr wrap="square" lIns="0" tIns="0" rIns="0" bIns="0" rtlCol="0"/>
            <a:lstStyle/>
            <a:p>
              <a:endParaRPr/>
            </a:p>
          </p:txBody>
        </p:sp>
      </p:grpSp>
      <p:sp>
        <p:nvSpPr>
          <p:cNvPr id="6" name="object 6"/>
          <p:cNvSpPr txBox="1">
            <a:spLocks noGrp="1"/>
          </p:cNvSpPr>
          <p:nvPr>
            <p:ph type="title"/>
          </p:nvPr>
        </p:nvSpPr>
        <p:spPr>
          <a:xfrm>
            <a:off x="1715261" y="352424"/>
            <a:ext cx="1906270" cy="635000"/>
          </a:xfrm>
          <a:prstGeom prst="rect">
            <a:avLst/>
          </a:prstGeom>
        </p:spPr>
        <p:txBody>
          <a:bodyPr vert="horz" wrap="square" lIns="0" tIns="12065" rIns="0" bIns="0" rtlCol="0">
            <a:spAutoFit/>
          </a:bodyPr>
          <a:lstStyle/>
          <a:p>
            <a:pPr marL="12700">
              <a:lnSpc>
                <a:spcPct val="100000"/>
              </a:lnSpc>
              <a:spcBef>
                <a:spcPts val="95"/>
              </a:spcBef>
            </a:pPr>
            <a:r>
              <a:rPr sz="4000" spc="-10" dirty="0"/>
              <a:t>Abstract</a:t>
            </a:r>
            <a:endParaRPr sz="4000"/>
          </a:p>
        </p:txBody>
      </p:sp>
      <p:sp>
        <p:nvSpPr>
          <p:cNvPr id="7" name="object 7"/>
          <p:cNvSpPr txBox="1"/>
          <p:nvPr/>
        </p:nvSpPr>
        <p:spPr>
          <a:xfrm>
            <a:off x="347573" y="6585213"/>
            <a:ext cx="1918335" cy="222885"/>
          </a:xfrm>
          <a:prstGeom prst="rect">
            <a:avLst/>
          </a:prstGeom>
        </p:spPr>
        <p:txBody>
          <a:bodyPr vert="horz" wrap="square" lIns="0" tIns="0" rIns="0" bIns="0" rtlCol="0">
            <a:spAutoFit/>
          </a:bodyPr>
          <a:lstStyle/>
          <a:p>
            <a:pPr marL="12700">
              <a:lnSpc>
                <a:spcPts val="1630"/>
              </a:lnSpc>
            </a:pPr>
            <a:r>
              <a:rPr sz="1400" b="1" dirty="0">
                <a:solidFill>
                  <a:srgbClr val="D362D2"/>
                </a:solidFill>
                <a:latin typeface="Times New Roman"/>
                <a:cs typeface="Times New Roman"/>
              </a:rPr>
              <a:t>Project</a:t>
            </a:r>
            <a:r>
              <a:rPr sz="1400" b="1" spc="-10" dirty="0">
                <a:solidFill>
                  <a:srgbClr val="D362D2"/>
                </a:solidFill>
                <a:latin typeface="Times New Roman"/>
                <a:cs typeface="Times New Roman"/>
              </a:rPr>
              <a:t> </a:t>
            </a:r>
            <a:r>
              <a:rPr sz="1400" b="1" spc="-20" dirty="0">
                <a:solidFill>
                  <a:srgbClr val="D362D2"/>
                </a:solidFill>
                <a:latin typeface="Times New Roman"/>
                <a:cs typeface="Times New Roman"/>
              </a:rPr>
              <a:t>Idea</a:t>
            </a:r>
            <a:r>
              <a:rPr sz="1400" b="1" spc="-45" dirty="0">
                <a:solidFill>
                  <a:srgbClr val="D362D2"/>
                </a:solidFill>
                <a:latin typeface="Times New Roman"/>
                <a:cs typeface="Times New Roman"/>
              </a:rPr>
              <a:t> </a:t>
            </a:r>
            <a:r>
              <a:rPr sz="1400" b="1" spc="-20" dirty="0">
                <a:solidFill>
                  <a:srgbClr val="D362D2"/>
                </a:solidFill>
                <a:latin typeface="Times New Roman"/>
                <a:cs typeface="Times New Roman"/>
              </a:rPr>
              <a:t>Presentation</a:t>
            </a:r>
            <a:endParaRPr sz="1400">
              <a:latin typeface="Times New Roman"/>
              <a:cs typeface="Times New Roman"/>
            </a:endParaRPr>
          </a:p>
        </p:txBody>
      </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3335">
              <a:lnSpc>
                <a:spcPts val="1630"/>
              </a:lnSpc>
            </a:pPr>
            <a:r>
              <a:rPr dirty="0"/>
              <a:t>2026-</a:t>
            </a:r>
            <a:r>
              <a:rPr spc="-20" dirty="0"/>
              <a:t>2027</a:t>
            </a: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87325">
              <a:lnSpc>
                <a:spcPts val="1630"/>
              </a:lnSpc>
            </a:pPr>
            <a:r>
              <a:rPr spc="-35" dirty="0"/>
              <a:t>Department</a:t>
            </a:r>
            <a:r>
              <a:rPr spc="-30" dirty="0"/>
              <a:t> </a:t>
            </a:r>
            <a:r>
              <a:rPr dirty="0"/>
              <a:t>of</a:t>
            </a:r>
            <a:r>
              <a:rPr spc="65" dirty="0"/>
              <a:t> </a:t>
            </a:r>
            <a:r>
              <a:rPr spc="-30" dirty="0"/>
              <a:t>Information</a:t>
            </a:r>
            <a:r>
              <a:rPr spc="-120" dirty="0"/>
              <a:t> </a:t>
            </a:r>
            <a:r>
              <a:rPr spc="-10" dirty="0"/>
              <a:t>Technology</a:t>
            </a:r>
          </a:p>
        </p:txBody>
      </p:sp>
      <p:sp>
        <p:nvSpPr>
          <p:cNvPr id="10" name="TextBox 9">
            <a:extLst>
              <a:ext uri="{FF2B5EF4-FFF2-40B4-BE49-F238E27FC236}">
                <a16:creationId xmlns:a16="http://schemas.microsoft.com/office/drawing/2014/main" id="{8BF037D6-A167-7598-8AA3-F74CD93D1795}"/>
              </a:ext>
            </a:extLst>
          </p:cNvPr>
          <p:cNvSpPr txBox="1"/>
          <p:nvPr/>
        </p:nvSpPr>
        <p:spPr>
          <a:xfrm>
            <a:off x="914400" y="1600200"/>
            <a:ext cx="9448800" cy="4642618"/>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What is Legal-Ease Translator?</a:t>
            </a:r>
          </a:p>
          <a:p>
            <a:r>
              <a:rPr lang="en-IN" sz="2400" dirty="0">
                <a:latin typeface="Times New Roman" panose="02020603050405020304" pitchFamily="18" charset="0"/>
                <a:cs typeface="Times New Roman" panose="02020603050405020304" pitchFamily="18" charset="0"/>
              </a:rPr>
              <a:t>Legal-Ease Translator is an AI-driven NLP platform that analyses legal and employment documents and converts complex legal language into simple, user-friendly summaries.</a:t>
            </a:r>
          </a:p>
          <a:p>
            <a:r>
              <a:rPr lang="en-IN" sz="2400" dirty="0">
                <a:latin typeface="Times New Roman" panose="02020603050405020304" pitchFamily="18" charset="0"/>
                <a:cs typeface="Times New Roman" panose="02020603050405020304" pitchFamily="18" charset="0"/>
              </a:rPr>
              <a:t>The system automatically:</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Extracts legal clauses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Detects risky terms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Identifies user-friendly clauses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Calculates trust/risk score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Generates recommendations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Delivers results through Web, Mobile, and Browser Extension</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1587480" cy="6856730"/>
            <a:chOff x="0" y="0"/>
            <a:chExt cx="11587480" cy="6856730"/>
          </a:xfrm>
        </p:grpSpPr>
        <p:pic>
          <p:nvPicPr>
            <p:cNvPr id="3" name="object 3"/>
            <p:cNvPicPr/>
            <p:nvPr/>
          </p:nvPicPr>
          <p:blipFill>
            <a:blip r:embed="rId2" cstate="print"/>
            <a:stretch>
              <a:fillRect/>
            </a:stretch>
          </p:blipFill>
          <p:spPr>
            <a:xfrm>
              <a:off x="329184" y="100584"/>
              <a:ext cx="931163" cy="1046987"/>
            </a:xfrm>
            <a:prstGeom prst="rect">
              <a:avLst/>
            </a:prstGeom>
          </p:spPr>
        </p:pic>
        <p:pic>
          <p:nvPicPr>
            <p:cNvPr id="4" name="object 4"/>
            <p:cNvPicPr/>
            <p:nvPr/>
          </p:nvPicPr>
          <p:blipFill>
            <a:blip r:embed="rId3" cstate="print"/>
            <a:stretch>
              <a:fillRect/>
            </a:stretch>
          </p:blipFill>
          <p:spPr>
            <a:xfrm>
              <a:off x="0" y="0"/>
              <a:ext cx="326136" cy="6856475"/>
            </a:xfrm>
            <a:prstGeom prst="rect">
              <a:avLst/>
            </a:prstGeom>
          </p:spPr>
        </p:pic>
        <p:sp>
          <p:nvSpPr>
            <p:cNvPr id="5" name="object 5"/>
            <p:cNvSpPr/>
            <p:nvPr/>
          </p:nvSpPr>
          <p:spPr>
            <a:xfrm>
              <a:off x="0" y="0"/>
              <a:ext cx="271145" cy="6854825"/>
            </a:xfrm>
            <a:custGeom>
              <a:avLst/>
              <a:gdLst/>
              <a:ahLst/>
              <a:cxnLst/>
              <a:rect l="l" t="t" r="r" b="b"/>
              <a:pathLst>
                <a:path w="271145" h="6854825">
                  <a:moveTo>
                    <a:pt x="270738" y="0"/>
                  </a:moveTo>
                  <a:lnTo>
                    <a:pt x="0" y="0"/>
                  </a:lnTo>
                  <a:lnTo>
                    <a:pt x="0" y="6854444"/>
                  </a:lnTo>
                  <a:lnTo>
                    <a:pt x="270738" y="6854444"/>
                  </a:lnTo>
                  <a:lnTo>
                    <a:pt x="270738" y="0"/>
                  </a:lnTo>
                  <a:close/>
                </a:path>
              </a:pathLst>
            </a:custGeom>
            <a:solidFill>
              <a:srgbClr val="FF505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220471" rIns="0" bIns="0" rtlCol="0">
            <a:spAutoFit/>
          </a:bodyPr>
          <a:lstStyle/>
          <a:p>
            <a:pPr marL="1041400">
              <a:lnSpc>
                <a:spcPct val="100000"/>
              </a:lnSpc>
              <a:spcBef>
                <a:spcPts val="95"/>
              </a:spcBef>
            </a:pPr>
            <a:r>
              <a:rPr sz="4000" spc="-20" dirty="0"/>
              <a:t>Introduction</a:t>
            </a:r>
            <a:endParaRPr sz="4000"/>
          </a:p>
        </p:txBody>
      </p:sp>
      <p:sp>
        <p:nvSpPr>
          <p:cNvPr id="7" name="object 7"/>
          <p:cNvSpPr txBox="1"/>
          <p:nvPr/>
        </p:nvSpPr>
        <p:spPr>
          <a:xfrm>
            <a:off x="347573" y="6585213"/>
            <a:ext cx="1918335" cy="222885"/>
          </a:xfrm>
          <a:prstGeom prst="rect">
            <a:avLst/>
          </a:prstGeom>
        </p:spPr>
        <p:txBody>
          <a:bodyPr vert="horz" wrap="square" lIns="0" tIns="0" rIns="0" bIns="0" rtlCol="0">
            <a:spAutoFit/>
          </a:bodyPr>
          <a:lstStyle/>
          <a:p>
            <a:pPr marL="12700">
              <a:lnSpc>
                <a:spcPts val="1630"/>
              </a:lnSpc>
            </a:pPr>
            <a:r>
              <a:rPr sz="1400" b="1" dirty="0">
                <a:solidFill>
                  <a:srgbClr val="D362D2"/>
                </a:solidFill>
                <a:latin typeface="Times New Roman"/>
                <a:cs typeface="Times New Roman"/>
              </a:rPr>
              <a:t>Project</a:t>
            </a:r>
            <a:r>
              <a:rPr sz="1400" b="1" spc="-10" dirty="0">
                <a:solidFill>
                  <a:srgbClr val="D362D2"/>
                </a:solidFill>
                <a:latin typeface="Times New Roman"/>
                <a:cs typeface="Times New Roman"/>
              </a:rPr>
              <a:t> </a:t>
            </a:r>
            <a:r>
              <a:rPr sz="1400" b="1" spc="-20" dirty="0">
                <a:solidFill>
                  <a:srgbClr val="D362D2"/>
                </a:solidFill>
                <a:latin typeface="Times New Roman"/>
                <a:cs typeface="Times New Roman"/>
              </a:rPr>
              <a:t>Idea</a:t>
            </a:r>
            <a:r>
              <a:rPr sz="1400" b="1" spc="-45" dirty="0">
                <a:solidFill>
                  <a:srgbClr val="D362D2"/>
                </a:solidFill>
                <a:latin typeface="Times New Roman"/>
                <a:cs typeface="Times New Roman"/>
              </a:rPr>
              <a:t> </a:t>
            </a:r>
            <a:r>
              <a:rPr sz="1400" b="1" spc="-20" dirty="0">
                <a:solidFill>
                  <a:srgbClr val="D362D2"/>
                </a:solidFill>
                <a:latin typeface="Times New Roman"/>
                <a:cs typeface="Times New Roman"/>
              </a:rPr>
              <a:t>Presentation</a:t>
            </a:r>
            <a:endParaRPr sz="1400">
              <a:latin typeface="Times New Roman"/>
              <a:cs typeface="Times New Roman"/>
            </a:endParaRPr>
          </a:p>
        </p:txBody>
      </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3335">
              <a:lnSpc>
                <a:spcPts val="1630"/>
              </a:lnSpc>
            </a:pPr>
            <a:r>
              <a:rPr dirty="0"/>
              <a:t>2026-</a:t>
            </a:r>
            <a:r>
              <a:rPr spc="-20" dirty="0"/>
              <a:t>2027</a:t>
            </a:r>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87325">
              <a:lnSpc>
                <a:spcPts val="1630"/>
              </a:lnSpc>
            </a:pPr>
            <a:r>
              <a:rPr spc="-35" dirty="0"/>
              <a:t>Department</a:t>
            </a:r>
            <a:r>
              <a:rPr spc="-30" dirty="0"/>
              <a:t> </a:t>
            </a:r>
            <a:r>
              <a:rPr dirty="0"/>
              <a:t>of</a:t>
            </a:r>
            <a:r>
              <a:rPr spc="65" dirty="0"/>
              <a:t> </a:t>
            </a:r>
            <a:r>
              <a:rPr spc="-30" dirty="0"/>
              <a:t>Information</a:t>
            </a:r>
            <a:r>
              <a:rPr spc="-120" dirty="0"/>
              <a:t> </a:t>
            </a:r>
            <a:r>
              <a:rPr spc="-10" dirty="0"/>
              <a:t>Technology</a:t>
            </a:r>
          </a:p>
        </p:txBody>
      </p:sp>
      <p:sp>
        <p:nvSpPr>
          <p:cNvPr id="10" name="TextBox 9">
            <a:extLst>
              <a:ext uri="{FF2B5EF4-FFF2-40B4-BE49-F238E27FC236}">
                <a16:creationId xmlns:a16="http://schemas.microsoft.com/office/drawing/2014/main" id="{72D89509-393C-5656-D7C7-5E42696FAB7B}"/>
              </a:ext>
            </a:extLst>
          </p:cNvPr>
          <p:cNvSpPr txBox="1"/>
          <p:nvPr/>
        </p:nvSpPr>
        <p:spPr>
          <a:xfrm>
            <a:off x="914400" y="1568345"/>
            <a:ext cx="9448800" cy="3970318"/>
          </a:xfrm>
          <a:prstGeom prst="rect">
            <a:avLst/>
          </a:prstGeom>
          <a:noFill/>
        </p:spPr>
        <p:txBody>
          <a:bodyPr wrap="square" rtlCol="0">
            <a:spAutoFit/>
          </a:bodyPr>
          <a:lstStyle/>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Legal and employment documents such as </a:t>
            </a:r>
            <a:r>
              <a:rPr lang="en-IN" b="1" dirty="0">
                <a:latin typeface="Times New Roman" panose="02020603050405020304" pitchFamily="18" charset="0"/>
                <a:cs typeface="Times New Roman" panose="02020603050405020304" pitchFamily="18" charset="0"/>
              </a:rPr>
              <a:t>Terms of Service (</a:t>
            </a:r>
            <a:r>
              <a:rPr lang="en-IN" b="1" dirty="0" err="1">
                <a:latin typeface="Times New Roman" panose="02020603050405020304" pitchFamily="18" charset="0"/>
                <a:cs typeface="Times New Roman" panose="02020603050405020304" pitchFamily="18" charset="0"/>
              </a:rPr>
              <a:t>ToS</a:t>
            </a:r>
            <a:r>
              <a:rPr lang="en-IN" b="1" dirty="0">
                <a:latin typeface="Times New Roman" panose="02020603050405020304" pitchFamily="18" charset="0"/>
                <a:cs typeface="Times New Roman" panose="02020603050405020304" pitchFamily="18" charset="0"/>
              </a:rPr>
              <a:t>), Privacy Policies, Employment Contracts, and Agreements</a:t>
            </a:r>
            <a:r>
              <a:rPr lang="en-IN" dirty="0">
                <a:latin typeface="Times New Roman" panose="02020603050405020304" pitchFamily="18" charset="0"/>
                <a:cs typeface="Times New Roman" panose="02020603050405020304" pitchFamily="18" charset="0"/>
              </a:rPr>
              <a:t> are often written in complex legal language, making them difficult for users to understand. As a result, many people accept these documents without fully understanding the risks, obligations, or important clauses they contain.</a:t>
            </a:r>
          </a:p>
          <a:p>
            <a:endParaRPr lang="en-I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An Intelligent NLP System for Legal and Employment Document Risk Analysis with Multiplatform Delivery</a:t>
            </a:r>
            <a:r>
              <a:rPr lang="en-IN" dirty="0">
                <a:latin typeface="Times New Roman" panose="02020603050405020304" pitchFamily="18" charset="0"/>
                <a:cs typeface="Times New Roman" panose="02020603050405020304" pitchFamily="18" charset="0"/>
              </a:rPr>
              <a:t> is an AI-powered solution that uses </a:t>
            </a:r>
            <a:r>
              <a:rPr lang="en-IN" b="1" dirty="0">
                <a:latin typeface="Times New Roman" panose="02020603050405020304" pitchFamily="18" charset="0"/>
                <a:cs typeface="Times New Roman" panose="02020603050405020304" pitchFamily="18" charset="0"/>
              </a:rPr>
              <a:t>Natural Language Processing (NLP)</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Large Language Models (LLMs)</a:t>
            </a:r>
            <a:r>
              <a:rPr lang="en-IN" dirty="0">
                <a:latin typeface="Times New Roman" panose="02020603050405020304" pitchFamily="18" charset="0"/>
                <a:cs typeface="Times New Roman" panose="02020603050405020304" pitchFamily="18" charset="0"/>
              </a:rPr>
              <a:t> to analyse legal documents, simplify complex legal text into plain language, identify potential risks, and provide intelligent recommendations.</a:t>
            </a:r>
          </a:p>
          <a:p>
            <a:endParaRPr lang="en-I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extracts important clauses, classifies them into </a:t>
            </a:r>
            <a:r>
              <a:rPr lang="en-IN" b="1" dirty="0">
                <a:latin typeface="Times New Roman" panose="02020603050405020304" pitchFamily="18" charset="0"/>
                <a:cs typeface="Times New Roman" panose="02020603050405020304" pitchFamily="18" charset="0"/>
              </a:rPr>
              <a:t>Red Flags (Risky Clauses)</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Green Flags (Safe Clauses)</a:t>
            </a:r>
            <a:r>
              <a:rPr lang="en-IN" dirty="0">
                <a:latin typeface="Times New Roman" panose="02020603050405020304" pitchFamily="18" charset="0"/>
                <a:cs typeface="Times New Roman" panose="02020603050405020304" pitchFamily="18" charset="0"/>
              </a:rPr>
              <a:t>, calculates a </a:t>
            </a:r>
            <a:r>
              <a:rPr lang="en-IN" b="1" dirty="0">
                <a:latin typeface="Times New Roman" panose="02020603050405020304" pitchFamily="18" charset="0"/>
                <a:cs typeface="Times New Roman" panose="02020603050405020304" pitchFamily="18" charset="0"/>
              </a:rPr>
              <a:t>Trust Score</a:t>
            </a:r>
            <a:r>
              <a:rPr lang="en-IN" dirty="0">
                <a:latin typeface="Times New Roman" panose="02020603050405020304" pitchFamily="18" charset="0"/>
                <a:cs typeface="Times New Roman" panose="02020603050405020304" pitchFamily="18" charset="0"/>
              </a:rPr>
              <a:t>, and delivers the results through a </a:t>
            </a:r>
            <a:r>
              <a:rPr lang="en-IN" b="1" dirty="0">
                <a:latin typeface="Times New Roman" panose="02020603050405020304" pitchFamily="18" charset="0"/>
                <a:cs typeface="Times New Roman" panose="02020603050405020304" pitchFamily="18" charset="0"/>
              </a:rPr>
              <a:t>Web Application, Mobile Application, and Browser Extension</a:t>
            </a:r>
            <a:r>
              <a:rPr lang="en-IN" dirty="0">
                <a:latin typeface="Times New Roman" panose="02020603050405020304" pitchFamily="18" charset="0"/>
                <a:cs typeface="Times New Roman" panose="02020603050405020304" pitchFamily="18" charset="0"/>
              </a:rPr>
              <a:t>, enabling users to make informed decisions before accepting any legal or employment agreement.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103" y="0"/>
            <a:ext cx="11599329" cy="6931164"/>
            <a:chOff x="-12103" y="0"/>
            <a:chExt cx="11599329" cy="6931164"/>
          </a:xfrm>
        </p:grpSpPr>
        <p:sp>
          <p:nvSpPr>
            <p:cNvPr id="3" name="object 3"/>
            <p:cNvSpPr/>
            <p:nvPr/>
          </p:nvSpPr>
          <p:spPr>
            <a:xfrm>
              <a:off x="604266" y="1197102"/>
              <a:ext cx="10982960" cy="0"/>
            </a:xfrm>
            <a:custGeom>
              <a:avLst/>
              <a:gdLst/>
              <a:ahLst/>
              <a:cxnLst/>
              <a:rect l="l" t="t" r="r" b="b"/>
              <a:pathLst>
                <a:path w="10982960">
                  <a:moveTo>
                    <a:pt x="0" y="0"/>
                  </a:moveTo>
                  <a:lnTo>
                    <a:pt x="10982960" y="0"/>
                  </a:lnTo>
                </a:path>
              </a:pathLst>
            </a:custGeom>
            <a:ln w="25908">
              <a:solidFill>
                <a:srgbClr val="D24623"/>
              </a:solidFill>
            </a:ln>
          </p:spPr>
          <p:txBody>
            <a:bodyPr wrap="square" lIns="0" tIns="0" rIns="0" bIns="0" rtlCol="0"/>
            <a:lstStyle/>
            <a:p>
              <a:endParaRPr/>
            </a:p>
          </p:txBody>
        </p:sp>
        <p:pic>
          <p:nvPicPr>
            <p:cNvPr id="4" name="object 4"/>
            <p:cNvPicPr/>
            <p:nvPr/>
          </p:nvPicPr>
          <p:blipFill>
            <a:blip r:embed="rId2" cstate="print"/>
            <a:stretch>
              <a:fillRect/>
            </a:stretch>
          </p:blipFill>
          <p:spPr>
            <a:xfrm>
              <a:off x="329184" y="100584"/>
              <a:ext cx="931163" cy="1046987"/>
            </a:xfrm>
            <a:prstGeom prst="rect">
              <a:avLst/>
            </a:prstGeom>
          </p:spPr>
        </p:pic>
        <p:pic>
          <p:nvPicPr>
            <p:cNvPr id="5" name="object 5"/>
            <p:cNvPicPr/>
            <p:nvPr/>
          </p:nvPicPr>
          <p:blipFill>
            <a:blip r:embed="rId3" cstate="print"/>
            <a:stretch>
              <a:fillRect/>
            </a:stretch>
          </p:blipFill>
          <p:spPr>
            <a:xfrm>
              <a:off x="0" y="0"/>
              <a:ext cx="326136" cy="6856475"/>
            </a:xfrm>
            <a:prstGeom prst="rect">
              <a:avLst/>
            </a:prstGeom>
          </p:spPr>
        </p:pic>
        <p:sp>
          <p:nvSpPr>
            <p:cNvPr id="6" name="object 6"/>
            <p:cNvSpPr/>
            <p:nvPr/>
          </p:nvSpPr>
          <p:spPr>
            <a:xfrm>
              <a:off x="-12103" y="76339"/>
              <a:ext cx="271145" cy="6854825"/>
            </a:xfrm>
            <a:custGeom>
              <a:avLst/>
              <a:gdLst/>
              <a:ahLst/>
              <a:cxnLst/>
              <a:rect l="l" t="t" r="r" b="b"/>
              <a:pathLst>
                <a:path w="271145" h="6854825">
                  <a:moveTo>
                    <a:pt x="270738" y="0"/>
                  </a:moveTo>
                  <a:lnTo>
                    <a:pt x="0" y="0"/>
                  </a:lnTo>
                  <a:lnTo>
                    <a:pt x="0" y="6854444"/>
                  </a:lnTo>
                  <a:lnTo>
                    <a:pt x="270738" y="6854444"/>
                  </a:lnTo>
                  <a:lnTo>
                    <a:pt x="270738" y="0"/>
                  </a:lnTo>
                  <a:close/>
                </a:path>
              </a:pathLst>
            </a:custGeom>
            <a:solidFill>
              <a:srgbClr val="FF5050"/>
            </a:solidFill>
          </p:spPr>
          <p:txBody>
            <a:bodyPr wrap="square" lIns="0" tIns="0" rIns="0" bIns="0" rtlCol="0"/>
            <a:lstStyle/>
            <a:p>
              <a:endParaRPr dirty="0"/>
            </a:p>
          </p:txBody>
        </p:sp>
      </p:grpSp>
      <p:sp>
        <p:nvSpPr>
          <p:cNvPr id="7" name="object 7"/>
          <p:cNvSpPr txBox="1">
            <a:spLocks noGrp="1"/>
          </p:cNvSpPr>
          <p:nvPr>
            <p:ph type="title"/>
          </p:nvPr>
        </p:nvSpPr>
        <p:spPr>
          <a:xfrm>
            <a:off x="1715261" y="352424"/>
            <a:ext cx="2299335" cy="635000"/>
          </a:xfrm>
          <a:prstGeom prst="rect">
            <a:avLst/>
          </a:prstGeom>
        </p:spPr>
        <p:txBody>
          <a:bodyPr vert="horz" wrap="square" lIns="0" tIns="12065" rIns="0" bIns="0" rtlCol="0">
            <a:spAutoFit/>
          </a:bodyPr>
          <a:lstStyle/>
          <a:p>
            <a:pPr marL="12700">
              <a:lnSpc>
                <a:spcPct val="100000"/>
              </a:lnSpc>
              <a:spcBef>
                <a:spcPts val="95"/>
              </a:spcBef>
            </a:pPr>
            <a:r>
              <a:rPr sz="4000" spc="-10" dirty="0"/>
              <a:t>Objectives</a:t>
            </a:r>
            <a:endParaRPr sz="4000"/>
          </a:p>
        </p:txBody>
      </p:sp>
      <p:sp>
        <p:nvSpPr>
          <p:cNvPr id="9" name="object 9"/>
          <p:cNvSpPr txBox="1"/>
          <p:nvPr/>
        </p:nvSpPr>
        <p:spPr>
          <a:xfrm>
            <a:off x="350926" y="6582470"/>
            <a:ext cx="1917700" cy="222885"/>
          </a:xfrm>
          <a:prstGeom prst="rect">
            <a:avLst/>
          </a:prstGeom>
        </p:spPr>
        <p:txBody>
          <a:bodyPr vert="horz" wrap="square" lIns="0" tIns="0" rIns="0" bIns="0" rtlCol="0">
            <a:spAutoFit/>
          </a:bodyPr>
          <a:lstStyle/>
          <a:p>
            <a:pPr marL="12700">
              <a:lnSpc>
                <a:spcPts val="1630"/>
              </a:lnSpc>
            </a:pPr>
            <a:r>
              <a:rPr sz="1400" b="1" dirty="0">
                <a:solidFill>
                  <a:srgbClr val="D362D2"/>
                </a:solidFill>
                <a:latin typeface="Times New Roman"/>
                <a:cs typeface="Times New Roman"/>
              </a:rPr>
              <a:t>Project</a:t>
            </a:r>
            <a:r>
              <a:rPr sz="1400" b="1" spc="-15" dirty="0">
                <a:solidFill>
                  <a:srgbClr val="D362D2"/>
                </a:solidFill>
                <a:latin typeface="Times New Roman"/>
                <a:cs typeface="Times New Roman"/>
              </a:rPr>
              <a:t> </a:t>
            </a:r>
            <a:r>
              <a:rPr sz="1400" b="1" spc="-20" dirty="0">
                <a:solidFill>
                  <a:srgbClr val="D362D2"/>
                </a:solidFill>
                <a:latin typeface="Times New Roman"/>
                <a:cs typeface="Times New Roman"/>
              </a:rPr>
              <a:t>Idea</a:t>
            </a:r>
            <a:r>
              <a:rPr sz="1400" b="1" spc="-55" dirty="0">
                <a:solidFill>
                  <a:srgbClr val="D362D2"/>
                </a:solidFill>
                <a:latin typeface="Times New Roman"/>
                <a:cs typeface="Times New Roman"/>
              </a:rPr>
              <a:t> </a:t>
            </a:r>
            <a:r>
              <a:rPr sz="1400" b="1" spc="-20" dirty="0">
                <a:solidFill>
                  <a:srgbClr val="D362D2"/>
                </a:solidFill>
                <a:latin typeface="Times New Roman"/>
                <a:cs typeface="Times New Roman"/>
              </a:rPr>
              <a:t>Presentation</a:t>
            </a:r>
            <a:endParaRPr sz="1400">
              <a:latin typeface="Times New Roman"/>
              <a:cs typeface="Times New Roman"/>
            </a:endParaRPr>
          </a:p>
        </p:txBody>
      </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506730">
              <a:lnSpc>
                <a:spcPts val="1630"/>
              </a:lnSpc>
            </a:pPr>
            <a:r>
              <a:rPr spc="-20" dirty="0"/>
              <a:t>2026-2027</a:t>
            </a: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630"/>
              </a:lnSpc>
            </a:pPr>
            <a:r>
              <a:rPr dirty="0"/>
              <a:t>Department</a:t>
            </a:r>
            <a:r>
              <a:rPr spc="-10" dirty="0"/>
              <a:t> </a:t>
            </a:r>
            <a:r>
              <a:rPr dirty="0"/>
              <a:t>of</a:t>
            </a:r>
            <a:r>
              <a:rPr spc="5" dirty="0"/>
              <a:t> </a:t>
            </a:r>
            <a:r>
              <a:rPr spc="-30" dirty="0"/>
              <a:t>Information</a:t>
            </a:r>
            <a:r>
              <a:rPr spc="-105" dirty="0"/>
              <a:t> </a:t>
            </a:r>
            <a:r>
              <a:rPr spc="-10" dirty="0"/>
              <a:t>Technology</a:t>
            </a:r>
          </a:p>
        </p:txBody>
      </p:sp>
      <p:sp>
        <p:nvSpPr>
          <p:cNvPr id="8" name="object 8"/>
          <p:cNvSpPr txBox="1"/>
          <p:nvPr/>
        </p:nvSpPr>
        <p:spPr>
          <a:xfrm>
            <a:off x="838199" y="1600216"/>
            <a:ext cx="10614863" cy="4075475"/>
          </a:xfrm>
          <a:prstGeom prst="rect">
            <a:avLst/>
          </a:prstGeom>
        </p:spPr>
        <p:txBody>
          <a:bodyPr vert="horz" wrap="square" lIns="0" tIns="12700" rIns="0" bIns="0" rtlCol="0">
            <a:spAutoFit/>
          </a:bodyPr>
          <a:lstStyle/>
          <a:p>
            <a:r>
              <a:rPr lang="en-IN" sz="2400" b="1" dirty="0">
                <a:latin typeface="Times New Roman" panose="02020603050405020304" pitchFamily="18" charset="0"/>
                <a:cs typeface="Times New Roman" panose="02020603050405020304" pitchFamily="18" charset="0"/>
              </a:rPr>
              <a:t>Aim</a:t>
            </a:r>
          </a:p>
          <a:p>
            <a:r>
              <a:rPr lang="en-IN" sz="2400" dirty="0">
                <a:latin typeface="Times New Roman" panose="02020603050405020304" pitchFamily="18" charset="0"/>
                <a:cs typeface="Times New Roman" panose="02020603050405020304" pitchFamily="18" charset="0"/>
              </a:rPr>
              <a:t>To build an intelligent NLP system that analyses legal and employment documents and provides understandable summaries with risk analysis.</a:t>
            </a:r>
          </a:p>
          <a:p>
            <a:r>
              <a:rPr lang="en-IN" sz="2400" b="1" dirty="0">
                <a:latin typeface="Times New Roman" panose="02020603050405020304" pitchFamily="18" charset="0"/>
                <a:cs typeface="Times New Roman" panose="02020603050405020304" pitchFamily="18" charset="0"/>
              </a:rPr>
              <a:t>Objectives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Simplify legal language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Detect hidden legal risks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Extract important clauses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Classify clauses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Generate Trust Score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 AI recommendations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 multiple platforms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60475" cy="6856730"/>
            <a:chOff x="0" y="0"/>
            <a:chExt cx="1260475" cy="6856730"/>
          </a:xfrm>
        </p:grpSpPr>
        <p:pic>
          <p:nvPicPr>
            <p:cNvPr id="3" name="object 3"/>
            <p:cNvPicPr/>
            <p:nvPr/>
          </p:nvPicPr>
          <p:blipFill>
            <a:blip r:embed="rId2" cstate="print"/>
            <a:stretch>
              <a:fillRect/>
            </a:stretch>
          </p:blipFill>
          <p:spPr>
            <a:xfrm>
              <a:off x="329184" y="100584"/>
              <a:ext cx="931163" cy="1046987"/>
            </a:xfrm>
            <a:prstGeom prst="rect">
              <a:avLst/>
            </a:prstGeom>
          </p:spPr>
        </p:pic>
        <p:pic>
          <p:nvPicPr>
            <p:cNvPr id="4" name="object 4"/>
            <p:cNvPicPr/>
            <p:nvPr/>
          </p:nvPicPr>
          <p:blipFill>
            <a:blip r:embed="rId3" cstate="print"/>
            <a:stretch>
              <a:fillRect/>
            </a:stretch>
          </p:blipFill>
          <p:spPr>
            <a:xfrm>
              <a:off x="0" y="0"/>
              <a:ext cx="326136" cy="6856475"/>
            </a:xfrm>
            <a:prstGeom prst="rect">
              <a:avLst/>
            </a:prstGeom>
          </p:spPr>
        </p:pic>
        <p:sp>
          <p:nvSpPr>
            <p:cNvPr id="5" name="object 5"/>
            <p:cNvSpPr/>
            <p:nvPr/>
          </p:nvSpPr>
          <p:spPr>
            <a:xfrm>
              <a:off x="0" y="0"/>
              <a:ext cx="271145" cy="6854825"/>
            </a:xfrm>
            <a:custGeom>
              <a:avLst/>
              <a:gdLst/>
              <a:ahLst/>
              <a:cxnLst/>
              <a:rect l="l" t="t" r="r" b="b"/>
              <a:pathLst>
                <a:path w="271145" h="6854825">
                  <a:moveTo>
                    <a:pt x="270738" y="0"/>
                  </a:moveTo>
                  <a:lnTo>
                    <a:pt x="0" y="0"/>
                  </a:lnTo>
                  <a:lnTo>
                    <a:pt x="0" y="6854444"/>
                  </a:lnTo>
                  <a:lnTo>
                    <a:pt x="270738" y="6854444"/>
                  </a:lnTo>
                  <a:lnTo>
                    <a:pt x="270738" y="0"/>
                  </a:lnTo>
                  <a:close/>
                </a:path>
              </a:pathLst>
            </a:custGeom>
            <a:solidFill>
              <a:srgbClr val="FF505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720725">
              <a:lnSpc>
                <a:spcPct val="100000"/>
              </a:lnSpc>
              <a:spcBef>
                <a:spcPts val="100"/>
              </a:spcBef>
            </a:pPr>
            <a:r>
              <a:rPr spc="-20" dirty="0"/>
              <a:t>Literature</a:t>
            </a:r>
            <a:r>
              <a:rPr spc="-125" dirty="0"/>
              <a:t> </a:t>
            </a:r>
            <a:r>
              <a:rPr spc="-10" dirty="0"/>
              <a:t>Survey</a:t>
            </a:r>
          </a:p>
        </p:txBody>
      </p:sp>
      <p:sp>
        <p:nvSpPr>
          <p:cNvPr id="8" name="object 8"/>
          <p:cNvSpPr txBox="1"/>
          <p:nvPr/>
        </p:nvSpPr>
        <p:spPr>
          <a:xfrm>
            <a:off x="347268" y="6584299"/>
            <a:ext cx="1918335" cy="222885"/>
          </a:xfrm>
          <a:prstGeom prst="rect">
            <a:avLst/>
          </a:prstGeom>
        </p:spPr>
        <p:txBody>
          <a:bodyPr vert="horz" wrap="square" lIns="0" tIns="0" rIns="0" bIns="0" rtlCol="0">
            <a:spAutoFit/>
          </a:bodyPr>
          <a:lstStyle/>
          <a:p>
            <a:pPr marL="12700">
              <a:lnSpc>
                <a:spcPts val="1630"/>
              </a:lnSpc>
            </a:pPr>
            <a:r>
              <a:rPr sz="1400" b="1" dirty="0">
                <a:solidFill>
                  <a:srgbClr val="D362D2"/>
                </a:solidFill>
                <a:latin typeface="Times New Roman"/>
                <a:cs typeface="Times New Roman"/>
              </a:rPr>
              <a:t>Project</a:t>
            </a:r>
            <a:r>
              <a:rPr sz="1400" b="1" spc="-15" dirty="0">
                <a:solidFill>
                  <a:srgbClr val="D362D2"/>
                </a:solidFill>
                <a:latin typeface="Times New Roman"/>
                <a:cs typeface="Times New Roman"/>
              </a:rPr>
              <a:t> </a:t>
            </a:r>
            <a:r>
              <a:rPr sz="1400" b="1" spc="-20" dirty="0">
                <a:solidFill>
                  <a:srgbClr val="D362D2"/>
                </a:solidFill>
                <a:latin typeface="Times New Roman"/>
                <a:cs typeface="Times New Roman"/>
              </a:rPr>
              <a:t>Idea</a:t>
            </a:r>
            <a:r>
              <a:rPr sz="1400" b="1" spc="-55" dirty="0">
                <a:solidFill>
                  <a:srgbClr val="D362D2"/>
                </a:solidFill>
                <a:latin typeface="Times New Roman"/>
                <a:cs typeface="Times New Roman"/>
              </a:rPr>
              <a:t> </a:t>
            </a:r>
            <a:r>
              <a:rPr sz="1400" b="1" spc="-20" dirty="0">
                <a:solidFill>
                  <a:srgbClr val="D362D2"/>
                </a:solidFill>
                <a:latin typeface="Times New Roman"/>
                <a:cs typeface="Times New Roman"/>
              </a:rPr>
              <a:t>Presentation</a:t>
            </a:r>
            <a:endParaRPr sz="1400">
              <a:latin typeface="Times New Roman"/>
              <a:cs typeface="Times New Roman"/>
            </a:endParaRPr>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630"/>
              </a:lnSpc>
            </a:pPr>
            <a:r>
              <a:rPr dirty="0"/>
              <a:t>2026-</a:t>
            </a:r>
            <a:r>
              <a:rPr spc="-20" dirty="0"/>
              <a:t>2027</a:t>
            </a: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87325">
              <a:lnSpc>
                <a:spcPts val="1630"/>
              </a:lnSpc>
            </a:pPr>
            <a:r>
              <a:rPr spc="-35" dirty="0"/>
              <a:t>Department</a:t>
            </a:r>
            <a:r>
              <a:rPr spc="-30" dirty="0"/>
              <a:t> </a:t>
            </a:r>
            <a:r>
              <a:rPr dirty="0"/>
              <a:t>of</a:t>
            </a:r>
            <a:r>
              <a:rPr spc="55" dirty="0"/>
              <a:t> </a:t>
            </a:r>
            <a:r>
              <a:rPr spc="-30" dirty="0"/>
              <a:t>Information</a:t>
            </a:r>
            <a:r>
              <a:rPr spc="-105" dirty="0"/>
              <a:t> </a:t>
            </a:r>
            <a:r>
              <a:rPr spc="-10" dirty="0"/>
              <a:t>Technology</a:t>
            </a:r>
          </a:p>
        </p:txBody>
      </p:sp>
      <p:graphicFrame>
        <p:nvGraphicFramePr>
          <p:cNvPr id="7" name="object 7"/>
          <p:cNvGraphicFramePr>
            <a:graphicFrameLocks noGrp="1"/>
          </p:cNvGraphicFramePr>
          <p:nvPr>
            <p:extLst>
              <p:ext uri="{D42A27DB-BD31-4B8C-83A1-F6EECF244321}">
                <p14:modId xmlns:p14="http://schemas.microsoft.com/office/powerpoint/2010/main" val="3583177139"/>
              </p:ext>
            </p:extLst>
          </p:nvPr>
        </p:nvGraphicFramePr>
        <p:xfrm>
          <a:off x="343434" y="1143000"/>
          <a:ext cx="11674474" cy="4882515"/>
        </p:xfrm>
        <a:graphic>
          <a:graphicData uri="http://schemas.openxmlformats.org/drawingml/2006/table">
            <a:tbl>
              <a:tblPr firstRow="1" bandRow="1">
                <a:tableStyleId>{2D5ABB26-0587-4C30-8999-92F81FD0307C}</a:tableStyleId>
              </a:tblPr>
              <a:tblGrid>
                <a:gridCol w="799566">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142899">
                  <a:extLst>
                    <a:ext uri="{9D8B030D-6E8A-4147-A177-3AD203B41FA5}">
                      <a16:colId xmlns:a16="http://schemas.microsoft.com/office/drawing/2014/main" val="20002"/>
                    </a:ext>
                  </a:extLst>
                </a:gridCol>
                <a:gridCol w="1676501">
                  <a:extLst>
                    <a:ext uri="{9D8B030D-6E8A-4147-A177-3AD203B41FA5}">
                      <a16:colId xmlns:a16="http://schemas.microsoft.com/office/drawing/2014/main" val="20003"/>
                    </a:ext>
                  </a:extLst>
                </a:gridCol>
                <a:gridCol w="2590800">
                  <a:extLst>
                    <a:ext uri="{9D8B030D-6E8A-4147-A177-3AD203B41FA5}">
                      <a16:colId xmlns:a16="http://schemas.microsoft.com/office/drawing/2014/main" val="20004"/>
                    </a:ext>
                  </a:extLst>
                </a:gridCol>
                <a:gridCol w="2950108">
                  <a:extLst>
                    <a:ext uri="{9D8B030D-6E8A-4147-A177-3AD203B41FA5}">
                      <a16:colId xmlns:a16="http://schemas.microsoft.com/office/drawing/2014/main" val="20005"/>
                    </a:ext>
                  </a:extLst>
                </a:gridCol>
              </a:tblGrid>
              <a:tr h="762000">
                <a:tc>
                  <a:txBody>
                    <a:bodyPr/>
                    <a:lstStyle/>
                    <a:p>
                      <a:pPr>
                        <a:lnSpc>
                          <a:spcPct val="100000"/>
                        </a:lnSpc>
                        <a:spcBef>
                          <a:spcPts val="20"/>
                        </a:spcBef>
                      </a:pPr>
                      <a:endParaRPr sz="1600" dirty="0">
                        <a:latin typeface="Times New Roman"/>
                        <a:cs typeface="Times New Roman"/>
                      </a:endParaRPr>
                    </a:p>
                    <a:p>
                      <a:pPr marL="137795">
                        <a:lnSpc>
                          <a:spcPct val="100000"/>
                        </a:lnSpc>
                      </a:pPr>
                      <a:r>
                        <a:rPr sz="1600" b="1" spc="-60" dirty="0">
                          <a:solidFill>
                            <a:srgbClr val="FFFFFF"/>
                          </a:solidFill>
                          <a:latin typeface="Times New Roman"/>
                          <a:cs typeface="Times New Roman"/>
                        </a:rPr>
                        <a:t>Sr.</a:t>
                      </a:r>
                      <a:r>
                        <a:rPr sz="1600" b="1" spc="-25" dirty="0">
                          <a:solidFill>
                            <a:srgbClr val="FFFFFF"/>
                          </a:solidFill>
                          <a:latin typeface="Times New Roman"/>
                          <a:cs typeface="Times New Roman"/>
                        </a:rPr>
                        <a:t> No</a:t>
                      </a:r>
                      <a:endParaRPr sz="1600" dirty="0">
                        <a:latin typeface="Times New Roman"/>
                        <a:cs typeface="Times New Roman"/>
                      </a:endParaRPr>
                    </a:p>
                  </a:txBody>
                  <a:tcPr marL="0" marR="0" marT="2540" marB="0">
                    <a:lnL w="12700">
                      <a:solidFill>
                        <a:srgbClr val="FFFFFF"/>
                      </a:solidFill>
                      <a:prstDash val="solid"/>
                    </a:lnL>
                    <a:lnR w="12700">
                      <a:solidFill>
                        <a:srgbClr val="FFFFFF"/>
                      </a:solidFill>
                      <a:prstDash val="solid"/>
                    </a:lnR>
                    <a:lnT w="38100">
                      <a:solidFill>
                        <a:srgbClr val="D24623"/>
                      </a:solidFill>
                      <a:prstDash val="solid"/>
                    </a:lnT>
                    <a:lnB w="38100">
                      <a:solidFill>
                        <a:srgbClr val="FFFFFF"/>
                      </a:solidFill>
                      <a:prstDash val="solid"/>
                    </a:lnB>
                    <a:solidFill>
                      <a:srgbClr val="92278F"/>
                    </a:solidFill>
                  </a:tcPr>
                </a:tc>
                <a:tc>
                  <a:txBody>
                    <a:bodyPr/>
                    <a:lstStyle/>
                    <a:p>
                      <a:pPr>
                        <a:lnSpc>
                          <a:spcPct val="100000"/>
                        </a:lnSpc>
                        <a:spcBef>
                          <a:spcPts val="20"/>
                        </a:spcBef>
                      </a:pPr>
                      <a:endParaRPr sz="1600" dirty="0">
                        <a:latin typeface="Times New Roman"/>
                        <a:cs typeface="Times New Roman"/>
                      </a:endParaRPr>
                    </a:p>
                    <a:p>
                      <a:pPr marL="118745">
                        <a:lnSpc>
                          <a:spcPct val="100000"/>
                        </a:lnSpc>
                      </a:pPr>
                      <a:r>
                        <a:rPr sz="1600" b="1" spc="-20" dirty="0">
                          <a:solidFill>
                            <a:srgbClr val="FFFFFF"/>
                          </a:solidFill>
                          <a:latin typeface="Times New Roman"/>
                          <a:cs typeface="Times New Roman"/>
                        </a:rPr>
                        <a:t>Research</a:t>
                      </a:r>
                      <a:r>
                        <a:rPr sz="1600" b="1" spc="-50" dirty="0">
                          <a:solidFill>
                            <a:srgbClr val="FFFFFF"/>
                          </a:solidFill>
                          <a:latin typeface="Times New Roman"/>
                          <a:cs typeface="Times New Roman"/>
                        </a:rPr>
                        <a:t> </a:t>
                      </a:r>
                      <a:r>
                        <a:rPr sz="1600" b="1" spc="-10" dirty="0">
                          <a:solidFill>
                            <a:srgbClr val="FFFFFF"/>
                          </a:solidFill>
                          <a:latin typeface="Times New Roman"/>
                          <a:cs typeface="Times New Roman"/>
                        </a:rPr>
                        <a:t>Paper</a:t>
                      </a:r>
                      <a:r>
                        <a:rPr sz="1600" b="1" spc="-70" dirty="0">
                          <a:solidFill>
                            <a:srgbClr val="FFFFFF"/>
                          </a:solidFill>
                          <a:latin typeface="Times New Roman"/>
                          <a:cs typeface="Times New Roman"/>
                        </a:rPr>
                        <a:t> </a:t>
                      </a:r>
                      <a:r>
                        <a:rPr sz="1600" b="1" spc="-20" dirty="0">
                          <a:solidFill>
                            <a:srgbClr val="FFFFFF"/>
                          </a:solidFill>
                          <a:latin typeface="Times New Roman"/>
                          <a:cs typeface="Times New Roman"/>
                        </a:rPr>
                        <a:t>Name</a:t>
                      </a:r>
                      <a:endParaRPr sz="1600" dirty="0">
                        <a:latin typeface="Times New Roman"/>
                        <a:cs typeface="Times New Roman"/>
                      </a:endParaRPr>
                    </a:p>
                  </a:txBody>
                  <a:tcPr marL="0" marR="0" marT="2540" marB="0">
                    <a:lnL w="12700">
                      <a:solidFill>
                        <a:srgbClr val="FFFFFF"/>
                      </a:solidFill>
                      <a:prstDash val="solid"/>
                    </a:lnL>
                    <a:lnR w="12700">
                      <a:solidFill>
                        <a:srgbClr val="FFFFFF"/>
                      </a:solidFill>
                      <a:prstDash val="solid"/>
                    </a:lnR>
                    <a:lnT w="38100">
                      <a:solidFill>
                        <a:srgbClr val="D24623"/>
                      </a:solidFill>
                      <a:prstDash val="solid"/>
                    </a:lnT>
                    <a:lnB w="38100">
                      <a:solidFill>
                        <a:srgbClr val="FFFFFF"/>
                      </a:solidFill>
                      <a:prstDash val="solid"/>
                    </a:lnB>
                    <a:solidFill>
                      <a:srgbClr val="92278F"/>
                    </a:solidFill>
                  </a:tcPr>
                </a:tc>
                <a:tc>
                  <a:txBody>
                    <a:bodyPr/>
                    <a:lstStyle/>
                    <a:p>
                      <a:pPr>
                        <a:lnSpc>
                          <a:spcPct val="100000"/>
                        </a:lnSpc>
                        <a:spcBef>
                          <a:spcPts val="20"/>
                        </a:spcBef>
                      </a:pPr>
                      <a:endParaRPr sz="1600" dirty="0">
                        <a:latin typeface="Times New Roman"/>
                        <a:cs typeface="Times New Roman"/>
                      </a:endParaRPr>
                    </a:p>
                    <a:p>
                      <a:pPr marL="108585" algn="ctr">
                        <a:lnSpc>
                          <a:spcPct val="100000"/>
                        </a:lnSpc>
                      </a:pPr>
                      <a:r>
                        <a:rPr sz="1600" b="1" spc="-30" dirty="0">
                          <a:solidFill>
                            <a:srgbClr val="FFFFFF"/>
                          </a:solidFill>
                          <a:latin typeface="Times New Roman"/>
                          <a:cs typeface="Times New Roman"/>
                        </a:rPr>
                        <a:t>Published</a:t>
                      </a:r>
                      <a:r>
                        <a:rPr sz="1600" b="1" spc="-20" dirty="0">
                          <a:solidFill>
                            <a:srgbClr val="FFFFFF"/>
                          </a:solidFill>
                          <a:latin typeface="Times New Roman"/>
                          <a:cs typeface="Times New Roman"/>
                        </a:rPr>
                        <a:t> Year</a:t>
                      </a:r>
                      <a:endParaRPr sz="1600" dirty="0">
                        <a:latin typeface="Times New Roman"/>
                        <a:cs typeface="Times New Roman"/>
                      </a:endParaRPr>
                    </a:p>
                  </a:txBody>
                  <a:tcPr marL="0" marR="0" marT="2540" marB="0">
                    <a:lnL w="12700">
                      <a:solidFill>
                        <a:srgbClr val="FFFFFF"/>
                      </a:solidFill>
                      <a:prstDash val="solid"/>
                    </a:lnL>
                    <a:lnR w="12700">
                      <a:solidFill>
                        <a:srgbClr val="FFFFFF"/>
                      </a:solidFill>
                      <a:prstDash val="solid"/>
                    </a:lnR>
                    <a:lnT w="38100">
                      <a:solidFill>
                        <a:srgbClr val="D24623"/>
                      </a:solidFill>
                      <a:prstDash val="solid"/>
                    </a:lnT>
                    <a:lnB w="38100">
                      <a:solidFill>
                        <a:srgbClr val="FFFFFF"/>
                      </a:solidFill>
                      <a:prstDash val="solid"/>
                    </a:lnB>
                    <a:solidFill>
                      <a:srgbClr val="92278F"/>
                    </a:solidFill>
                  </a:tcPr>
                </a:tc>
                <a:tc>
                  <a:txBody>
                    <a:bodyPr/>
                    <a:lstStyle/>
                    <a:p>
                      <a:pPr>
                        <a:lnSpc>
                          <a:spcPct val="100000"/>
                        </a:lnSpc>
                        <a:spcBef>
                          <a:spcPts val="20"/>
                        </a:spcBef>
                      </a:pPr>
                      <a:endParaRPr sz="1600" dirty="0">
                        <a:latin typeface="Times New Roman"/>
                        <a:cs typeface="Times New Roman"/>
                      </a:endParaRPr>
                    </a:p>
                    <a:p>
                      <a:pPr marL="327025">
                        <a:lnSpc>
                          <a:spcPct val="100000"/>
                        </a:lnSpc>
                      </a:pPr>
                      <a:r>
                        <a:rPr sz="1600" b="1" spc="-10" dirty="0">
                          <a:solidFill>
                            <a:srgbClr val="FFFFFF"/>
                          </a:solidFill>
                          <a:latin typeface="Times New Roman"/>
                          <a:cs typeface="Times New Roman"/>
                        </a:rPr>
                        <a:t>Author</a:t>
                      </a:r>
                      <a:r>
                        <a:rPr sz="1600" b="1" spc="-80" dirty="0">
                          <a:solidFill>
                            <a:srgbClr val="FFFFFF"/>
                          </a:solidFill>
                          <a:latin typeface="Times New Roman"/>
                          <a:cs typeface="Times New Roman"/>
                        </a:rPr>
                        <a:t> </a:t>
                      </a:r>
                      <a:r>
                        <a:rPr sz="1600" b="1" spc="-20" dirty="0">
                          <a:solidFill>
                            <a:srgbClr val="FFFFFF"/>
                          </a:solidFill>
                          <a:latin typeface="Times New Roman"/>
                          <a:cs typeface="Times New Roman"/>
                        </a:rPr>
                        <a:t>Names</a:t>
                      </a:r>
                      <a:endParaRPr sz="1600" dirty="0">
                        <a:latin typeface="Times New Roman"/>
                        <a:cs typeface="Times New Roman"/>
                      </a:endParaRPr>
                    </a:p>
                  </a:txBody>
                  <a:tcPr marL="0" marR="0" marT="2540" marB="0">
                    <a:lnL w="12700">
                      <a:solidFill>
                        <a:srgbClr val="FFFFFF"/>
                      </a:solidFill>
                      <a:prstDash val="solid"/>
                    </a:lnL>
                    <a:lnR w="12700">
                      <a:solidFill>
                        <a:srgbClr val="FFFFFF"/>
                      </a:solidFill>
                      <a:prstDash val="solid"/>
                    </a:lnR>
                    <a:lnT w="38100">
                      <a:solidFill>
                        <a:srgbClr val="D24623"/>
                      </a:solidFill>
                      <a:prstDash val="solid"/>
                    </a:lnT>
                    <a:lnB w="38100">
                      <a:solidFill>
                        <a:srgbClr val="FFFFFF"/>
                      </a:solidFill>
                      <a:prstDash val="solid"/>
                    </a:lnB>
                    <a:solidFill>
                      <a:srgbClr val="92278F"/>
                    </a:solidFill>
                  </a:tcPr>
                </a:tc>
                <a:tc>
                  <a:txBody>
                    <a:bodyPr/>
                    <a:lstStyle/>
                    <a:p>
                      <a:pPr marL="704850" algn="l">
                        <a:lnSpc>
                          <a:spcPts val="1839"/>
                        </a:lnSpc>
                      </a:pPr>
                      <a:endParaRPr lang="en-IN" sz="1600" b="1" spc="-10" dirty="0">
                        <a:solidFill>
                          <a:srgbClr val="FFFFFF"/>
                        </a:solidFill>
                        <a:latin typeface="Times New Roman"/>
                        <a:cs typeface="Times New Roman"/>
                      </a:endParaRPr>
                    </a:p>
                    <a:p>
                      <a:pPr marL="704850" algn="l">
                        <a:lnSpc>
                          <a:spcPts val="1839"/>
                        </a:lnSpc>
                      </a:pPr>
                      <a:r>
                        <a:rPr sz="1600" b="1" spc="-10" dirty="0">
                          <a:solidFill>
                            <a:srgbClr val="FFFFFF"/>
                          </a:solidFill>
                          <a:latin typeface="Times New Roman"/>
                          <a:cs typeface="Times New Roman"/>
                        </a:rPr>
                        <a:t>What</a:t>
                      </a:r>
                      <a:r>
                        <a:rPr sz="1600" b="1" spc="-90" dirty="0">
                          <a:solidFill>
                            <a:srgbClr val="FFFFFF"/>
                          </a:solidFill>
                          <a:latin typeface="Times New Roman"/>
                          <a:cs typeface="Times New Roman"/>
                        </a:rPr>
                        <a:t> </a:t>
                      </a:r>
                      <a:r>
                        <a:rPr sz="1600" b="1" spc="-20" dirty="0">
                          <a:solidFill>
                            <a:srgbClr val="FFFFFF"/>
                          </a:solidFill>
                          <a:latin typeface="Times New Roman"/>
                          <a:cs typeface="Times New Roman"/>
                        </a:rPr>
                        <a:t>this</a:t>
                      </a:r>
                      <a:r>
                        <a:rPr lang="en-IN" sz="1600" b="0" spc="0" dirty="0">
                          <a:solidFill>
                            <a:schemeClr val="tx1"/>
                          </a:solidFill>
                          <a:latin typeface="Times New Roman"/>
                          <a:cs typeface="Times New Roman"/>
                        </a:rPr>
                        <a:t>  </a:t>
                      </a:r>
                      <a:r>
                        <a:rPr sz="1600" b="1" spc="-20" dirty="0">
                          <a:solidFill>
                            <a:srgbClr val="FFFFFF"/>
                          </a:solidFill>
                          <a:latin typeface="Times New Roman"/>
                          <a:cs typeface="Times New Roman"/>
                        </a:rPr>
                        <a:t>research</a:t>
                      </a:r>
                      <a:r>
                        <a:rPr sz="1600" b="1" spc="-35" dirty="0">
                          <a:solidFill>
                            <a:srgbClr val="FFFFFF"/>
                          </a:solidFill>
                          <a:latin typeface="Times New Roman"/>
                          <a:cs typeface="Times New Roman"/>
                        </a:rPr>
                        <a:t> </a:t>
                      </a:r>
                      <a:r>
                        <a:rPr sz="1600" b="1" spc="-25" dirty="0">
                          <a:solidFill>
                            <a:srgbClr val="FFFFFF"/>
                          </a:solidFill>
                          <a:latin typeface="Times New Roman"/>
                          <a:cs typeface="Times New Roman"/>
                        </a:rPr>
                        <a:t>paper</a:t>
                      </a:r>
                      <a:r>
                        <a:rPr lang="en-IN" sz="1600" b="1" spc="-25" dirty="0">
                          <a:solidFill>
                            <a:srgbClr val="FFFFFF"/>
                          </a:solidFill>
                          <a:latin typeface="Times New Roman"/>
                          <a:cs typeface="Times New Roman"/>
                        </a:rPr>
                        <a:t>  </a:t>
                      </a:r>
                      <a:r>
                        <a:rPr sz="1600" b="1" spc="-10" dirty="0">
                          <a:solidFill>
                            <a:srgbClr val="FFFFFF"/>
                          </a:solidFill>
                          <a:latin typeface="Times New Roman"/>
                          <a:cs typeface="Times New Roman"/>
                        </a:rPr>
                        <a:t>contains</a:t>
                      </a:r>
                      <a:endParaRPr sz="16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D24623"/>
                      </a:solidFill>
                      <a:prstDash val="solid"/>
                    </a:lnT>
                    <a:lnB w="38100" cap="flat" cmpd="sng" algn="ctr">
                      <a:solidFill>
                        <a:srgbClr val="FFFFFF"/>
                      </a:solidFill>
                      <a:prstDash val="solid"/>
                      <a:round/>
                      <a:headEnd type="none" w="med" len="med"/>
                      <a:tailEnd type="none" w="med" len="med"/>
                    </a:lnB>
                    <a:solidFill>
                      <a:srgbClr val="92278F"/>
                    </a:solidFill>
                  </a:tcPr>
                </a:tc>
                <a:tc>
                  <a:txBody>
                    <a:bodyPr/>
                    <a:lstStyle/>
                    <a:p>
                      <a:pPr>
                        <a:lnSpc>
                          <a:spcPct val="100000"/>
                        </a:lnSpc>
                        <a:spcBef>
                          <a:spcPts val="20"/>
                        </a:spcBef>
                      </a:pPr>
                      <a:endParaRPr sz="1600">
                        <a:latin typeface="Times New Roman"/>
                        <a:cs typeface="Times New Roman"/>
                      </a:endParaRPr>
                    </a:p>
                    <a:p>
                      <a:pPr marL="960755">
                        <a:lnSpc>
                          <a:spcPct val="100000"/>
                        </a:lnSpc>
                      </a:pPr>
                      <a:r>
                        <a:rPr sz="1600" b="1" spc="-20" dirty="0">
                          <a:solidFill>
                            <a:srgbClr val="FFFFFF"/>
                          </a:solidFill>
                          <a:latin typeface="Times New Roman"/>
                          <a:cs typeface="Times New Roman"/>
                        </a:rPr>
                        <a:t>Research</a:t>
                      </a:r>
                      <a:r>
                        <a:rPr sz="1600" b="1" spc="-40" dirty="0">
                          <a:solidFill>
                            <a:srgbClr val="FFFFFF"/>
                          </a:solidFill>
                          <a:latin typeface="Times New Roman"/>
                          <a:cs typeface="Times New Roman"/>
                        </a:rPr>
                        <a:t> </a:t>
                      </a:r>
                      <a:r>
                        <a:rPr sz="1600" b="1" spc="-25" dirty="0">
                          <a:solidFill>
                            <a:srgbClr val="FFFFFF"/>
                          </a:solidFill>
                          <a:latin typeface="Times New Roman"/>
                          <a:cs typeface="Times New Roman"/>
                        </a:rPr>
                        <a:t>Gap</a:t>
                      </a:r>
                      <a:endParaRPr sz="1600">
                        <a:latin typeface="Times New Roman"/>
                        <a:cs typeface="Times New Roman"/>
                      </a:endParaRPr>
                    </a:p>
                  </a:txBody>
                  <a:tcPr marL="0" marR="0" marT="2540" marB="0">
                    <a:lnL w="12700">
                      <a:solidFill>
                        <a:srgbClr val="FFFFFF"/>
                      </a:solidFill>
                      <a:prstDash val="solid"/>
                    </a:lnL>
                    <a:lnR w="12700">
                      <a:solidFill>
                        <a:srgbClr val="FFFFFF"/>
                      </a:solidFill>
                      <a:prstDash val="solid"/>
                    </a:lnR>
                    <a:lnT w="38100">
                      <a:solidFill>
                        <a:srgbClr val="D24623"/>
                      </a:solidFill>
                      <a:prstDash val="solid"/>
                    </a:lnT>
                    <a:lnB w="38100" cap="flat" cmpd="sng" algn="ctr">
                      <a:solidFill>
                        <a:srgbClr val="FFFFFF"/>
                      </a:solidFill>
                      <a:prstDash val="solid"/>
                      <a:round/>
                      <a:headEnd type="none" w="med" len="med"/>
                      <a:tailEnd type="none" w="med" len="med"/>
                    </a:lnB>
                    <a:solidFill>
                      <a:srgbClr val="92278F"/>
                    </a:solidFill>
                  </a:tcPr>
                </a:tc>
                <a:extLst>
                  <a:ext uri="{0D108BD9-81ED-4DB2-BD59-A6C34878D82A}">
                    <a16:rowId xmlns:a16="http://schemas.microsoft.com/office/drawing/2014/main" val="10000"/>
                  </a:ext>
                </a:extLst>
              </a:tr>
              <a:tr h="1447800">
                <a:tc>
                  <a:txBody>
                    <a:bodyPr/>
                    <a:lstStyle/>
                    <a:p>
                      <a:pPr>
                        <a:lnSpc>
                          <a:spcPct val="100000"/>
                        </a:lnSpc>
                      </a:pPr>
                      <a:r>
                        <a:rPr lang="en-IN" sz="1700" dirty="0">
                          <a:latin typeface="Times New Roman"/>
                          <a:cs typeface="Times New Roman"/>
                        </a:rPr>
                        <a:t>     </a:t>
                      </a:r>
                    </a:p>
                    <a:p>
                      <a:pPr>
                        <a:lnSpc>
                          <a:spcPct val="100000"/>
                        </a:lnSpc>
                      </a:pPr>
                      <a:r>
                        <a:rPr lang="en-IN" sz="1700" dirty="0">
                          <a:latin typeface="Times New Roman"/>
                          <a:cs typeface="Times New Roman"/>
                        </a:rPr>
                        <a:t>      1</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92278F"/>
                    </a:solidFill>
                  </a:tcPr>
                </a:tc>
                <a:tc>
                  <a:txBody>
                    <a:bodyPr/>
                    <a:lstStyle/>
                    <a:p>
                      <a:pPr algn="ctr">
                        <a:lnSpc>
                          <a:spcPct val="100000"/>
                        </a:lnSpc>
                      </a:pPr>
                      <a:endParaRPr lang="en-IN" sz="1400" dirty="0">
                        <a:latin typeface="Times New Roman" panose="02020603050405020304" pitchFamily="18" charset="0"/>
                        <a:cs typeface="Times New Roman" panose="02020603050405020304" pitchFamily="18" charset="0"/>
                      </a:endParaRPr>
                    </a:p>
                    <a:p>
                      <a:pPr algn="ctr">
                        <a:lnSpc>
                          <a:spcPct val="100000"/>
                        </a:lnSpc>
                      </a:pPr>
                      <a:r>
                        <a:rPr lang="en-IN" sz="1400" dirty="0">
                          <a:latin typeface="Times New Roman" panose="02020603050405020304" pitchFamily="18" charset="0"/>
                          <a:cs typeface="Times New Roman" panose="02020603050405020304" pitchFamily="18" charset="0"/>
                        </a:rPr>
                        <a:t>CUAD: An Expert-Annotated NLP Dataset for Legal Contract Review</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CCDDB"/>
                    </a:solidFill>
                  </a:tcPr>
                </a:tc>
                <a:tc>
                  <a:txBody>
                    <a:bodyPr/>
                    <a:lstStyle/>
                    <a:p>
                      <a:pPr algn="ctr">
                        <a:lnSpc>
                          <a:spcPct val="100000"/>
                        </a:lnSpc>
                      </a:pPr>
                      <a:endParaRPr lang="en-IN" sz="1400" dirty="0">
                        <a:latin typeface="Times New Roman" panose="02020603050405020304" pitchFamily="18" charset="0"/>
                        <a:cs typeface="Times New Roman" panose="02020603050405020304" pitchFamily="18" charset="0"/>
                      </a:endParaRPr>
                    </a:p>
                    <a:p>
                      <a:pPr algn="ctr">
                        <a:lnSpc>
                          <a:spcPct val="100000"/>
                        </a:lnSpc>
                      </a:pPr>
                      <a:r>
                        <a:rPr lang="en-IN" sz="1400" dirty="0">
                          <a:latin typeface="Times New Roman" panose="02020603050405020304" pitchFamily="18" charset="0"/>
                          <a:cs typeface="Times New Roman" panose="02020603050405020304" pitchFamily="18" charset="0"/>
                        </a:rPr>
                        <a:t>2025</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CCDDB"/>
                    </a:solidFill>
                  </a:tcPr>
                </a:tc>
                <a:tc>
                  <a:txBody>
                    <a:bodyPr/>
                    <a:lstStyle/>
                    <a:p>
                      <a:pPr algn="ctr">
                        <a:lnSpc>
                          <a:spcPct val="100000"/>
                        </a:lnSpc>
                      </a:pPr>
                      <a:r>
                        <a:rPr lang="en-IN" sz="1400" dirty="0">
                          <a:latin typeface="Times New Roman" panose="02020603050405020304" pitchFamily="18" charset="0"/>
                          <a:cs typeface="Times New Roman" panose="02020603050405020304" pitchFamily="18" charset="0"/>
                        </a:rPr>
                        <a:t>        </a:t>
                      </a:r>
                    </a:p>
                    <a:p>
                      <a:pPr algn="ctr">
                        <a:lnSpc>
                          <a:spcPct val="100000"/>
                        </a:lnSpc>
                      </a:pPr>
                      <a:r>
                        <a:rPr lang="en-IN" sz="1400" dirty="0">
                          <a:latin typeface="Times New Roman" panose="02020603050405020304" pitchFamily="18" charset="0"/>
                          <a:cs typeface="Times New Roman" panose="02020603050405020304" pitchFamily="18" charset="0"/>
                        </a:rPr>
                        <a:t>Dan Hendrycks et al.</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DCCDDB"/>
                    </a:solidFill>
                  </a:tcPr>
                </a:tc>
                <a:tc>
                  <a:txBody>
                    <a:bodyPr/>
                    <a:lstStyle/>
                    <a:p>
                      <a:pPr algn="ctr">
                        <a:buNone/>
                      </a:pPr>
                      <a:r>
                        <a:rPr lang="en-IN" sz="1400" dirty="0">
                          <a:latin typeface="Times New Roman" panose="02020603050405020304" pitchFamily="18" charset="0"/>
                          <a:cs typeface="Times New Roman" panose="02020603050405020304" pitchFamily="18" charset="0"/>
                        </a:rPr>
                        <a:t>Introduced the CUAD dataset with expert annotations for contract clause extraction and legal contract review using Transformer models.</a:t>
                      </a:r>
                    </a:p>
                  </a:txBody>
                  <a:tcPr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CCDDB"/>
                    </a:solidFill>
                  </a:tcPr>
                </a:tc>
                <a:tc>
                  <a:txBody>
                    <a:bodyPr/>
                    <a:lstStyle/>
                    <a:p>
                      <a:pPr algn="ctr">
                        <a:buNone/>
                      </a:pPr>
                      <a:r>
                        <a:rPr lang="en-IN" sz="1400" dirty="0">
                          <a:latin typeface="Times New Roman" panose="02020603050405020304" pitchFamily="18" charset="0"/>
                          <a:cs typeface="Times New Roman" panose="02020603050405020304" pitchFamily="18" charset="0"/>
                        </a:rPr>
                        <a:t>Focuses mainly on contract clause extraction and review; does not provide risk scoring, plain-language explanations, or multiplatform deployment.</a:t>
                      </a:r>
                      <a:endParaRPr lang="en-US" sz="1400" dirty="0">
                        <a:latin typeface="Times New Roman" panose="02020603050405020304" pitchFamily="18" charset="0"/>
                        <a:cs typeface="Times New Roman" panose="02020603050405020304" pitchFamily="18" charset="0"/>
                      </a:endParaRPr>
                    </a:p>
                  </a:txBody>
                  <a:tcPr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CCDDB"/>
                    </a:solidFill>
                  </a:tcPr>
                </a:tc>
                <a:extLst>
                  <a:ext uri="{0D108BD9-81ED-4DB2-BD59-A6C34878D82A}">
                    <a16:rowId xmlns:a16="http://schemas.microsoft.com/office/drawing/2014/main" val="10001"/>
                  </a:ext>
                </a:extLst>
              </a:tr>
              <a:tr h="1337310">
                <a:tc>
                  <a:txBody>
                    <a:bodyPr/>
                    <a:lstStyle/>
                    <a:p>
                      <a:pPr>
                        <a:lnSpc>
                          <a:spcPct val="100000"/>
                        </a:lnSpc>
                      </a:pPr>
                      <a:r>
                        <a:rPr lang="en-IN" sz="1700" dirty="0">
                          <a:latin typeface="Times New Roman"/>
                          <a:cs typeface="Times New Roman"/>
                        </a:rPr>
                        <a:t>     </a:t>
                      </a:r>
                    </a:p>
                    <a:p>
                      <a:pPr>
                        <a:lnSpc>
                          <a:spcPct val="100000"/>
                        </a:lnSpc>
                      </a:pPr>
                      <a:r>
                        <a:rPr lang="en-IN" sz="1700" dirty="0">
                          <a:latin typeface="Times New Roman"/>
                          <a:cs typeface="Times New Roman"/>
                        </a:rPr>
                        <a:t>     2</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2278F"/>
                    </a:solidFill>
                  </a:tcPr>
                </a:tc>
                <a:tc>
                  <a:txBody>
                    <a:bodyPr/>
                    <a:lstStyle/>
                    <a:p>
                      <a:pPr algn="ctr">
                        <a:lnSpc>
                          <a:spcPct val="100000"/>
                        </a:lnSpc>
                      </a:pPr>
                      <a:r>
                        <a:rPr lang="en-IN" sz="1400" dirty="0">
                          <a:latin typeface="Times New Roman" panose="02020603050405020304" pitchFamily="18" charset="0"/>
                          <a:cs typeface="Times New Roman" panose="02020603050405020304" pitchFamily="18" charset="0"/>
                        </a:rPr>
                        <a:t>   </a:t>
                      </a:r>
                    </a:p>
                    <a:p>
                      <a:pPr algn="ctr">
                        <a:lnSpc>
                          <a:spcPct val="100000"/>
                        </a:lnSpc>
                      </a:pPr>
                      <a:r>
                        <a:rPr lang="en-IN" sz="1400" dirty="0">
                          <a:latin typeface="Times New Roman" panose="02020603050405020304" pitchFamily="18" charset="0"/>
                          <a:cs typeface="Times New Roman" panose="02020603050405020304" pitchFamily="18" charset="0"/>
                        </a:rPr>
                        <a:t> Natural Language Processing in Legal Document Analysis: A Systematic Review</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8EB"/>
                    </a:solidFill>
                  </a:tcPr>
                </a:tc>
                <a:tc>
                  <a:txBody>
                    <a:bodyPr/>
                    <a:lstStyle/>
                    <a:p>
                      <a:pPr algn="ctr">
                        <a:lnSpc>
                          <a:spcPct val="100000"/>
                        </a:lnSpc>
                      </a:pPr>
                      <a:endParaRPr lang="en-IN" sz="1400" dirty="0">
                        <a:latin typeface="Times New Roman" panose="02020603050405020304" pitchFamily="18" charset="0"/>
                        <a:cs typeface="Times New Roman" panose="02020603050405020304" pitchFamily="18" charset="0"/>
                      </a:endParaRPr>
                    </a:p>
                    <a:p>
                      <a:pPr algn="ctr">
                        <a:lnSpc>
                          <a:spcPct val="100000"/>
                        </a:lnSpc>
                      </a:pPr>
                      <a:r>
                        <a:rPr lang="en-IN" sz="1400" dirty="0">
                          <a:latin typeface="Times New Roman" panose="02020603050405020304" pitchFamily="18" charset="0"/>
                          <a:cs typeface="Times New Roman" panose="02020603050405020304" pitchFamily="18" charset="0"/>
                        </a:rPr>
                        <a:t>  2025</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8EB"/>
                    </a:solidFill>
                  </a:tcPr>
                </a:tc>
                <a:tc>
                  <a:txBody>
                    <a:bodyPr/>
                    <a:lstStyle/>
                    <a:p>
                      <a:pPr algn="ctr">
                        <a:lnSpc>
                          <a:spcPct val="100000"/>
                        </a:lnSpc>
                      </a:pPr>
                      <a:r>
                        <a:rPr lang="en-IN" sz="1400" dirty="0">
                          <a:latin typeface="Times New Roman" panose="02020603050405020304" pitchFamily="18" charset="0"/>
                          <a:cs typeface="Times New Roman" panose="02020603050405020304" pitchFamily="18" charset="0"/>
                        </a:rPr>
                        <a:t>   </a:t>
                      </a:r>
                    </a:p>
                    <a:p>
                      <a:pPr algn="ctr">
                        <a:lnSpc>
                          <a:spcPct val="100000"/>
                        </a:lnSpc>
                      </a:pPr>
                      <a:r>
                        <a:rPr lang="en-IN" sz="1400" dirty="0">
                          <a:latin typeface="Times New Roman" panose="02020603050405020304" pitchFamily="18" charset="0"/>
                          <a:cs typeface="Times New Roman" panose="02020603050405020304" pitchFamily="18" charset="0"/>
                        </a:rPr>
                        <a:t> J. M. Maseko et al.   </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8EB"/>
                    </a:solidFill>
                  </a:tcPr>
                </a:tc>
                <a:tc>
                  <a:txBody>
                    <a:bodyPr/>
                    <a:lstStyle/>
                    <a:p>
                      <a:pPr algn="ctr">
                        <a:lnSpc>
                          <a:spcPct val="100000"/>
                        </a:lnSpc>
                      </a:pPr>
                      <a:r>
                        <a:rPr lang="en-IN" sz="1400" dirty="0">
                          <a:latin typeface="Times New Roman" panose="02020603050405020304" pitchFamily="18" charset="0"/>
                          <a:cs typeface="Times New Roman" panose="02020603050405020304" pitchFamily="18" charset="0"/>
                        </a:rPr>
                        <a:t>   </a:t>
                      </a:r>
                    </a:p>
                    <a:p>
                      <a:pPr algn="ctr">
                        <a:lnSpc>
                          <a:spcPct val="100000"/>
                        </a:lnSpc>
                      </a:pPr>
                      <a:r>
                        <a:rPr lang="en-IN" sz="1400" dirty="0">
                          <a:latin typeface="Times New Roman" panose="02020603050405020304" pitchFamily="18" charset="0"/>
                          <a:cs typeface="Times New Roman" panose="02020603050405020304" pitchFamily="18" charset="0"/>
                        </a:rPr>
                        <a:t> Reviews NLP techniques for legal document summarization, information extraction, legal QA, and compliance verification.</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BE8EB"/>
                    </a:solidFill>
                  </a:tcPr>
                </a:tc>
                <a:tc>
                  <a:txBody>
                    <a:bodyPr/>
                    <a:lstStyle/>
                    <a:p>
                      <a:pPr algn="ctr">
                        <a:lnSpc>
                          <a:spcPct val="100000"/>
                        </a:lnSpc>
                      </a:pPr>
                      <a:r>
                        <a:rPr lang="en-IN" sz="1400" dirty="0">
                          <a:latin typeface="Times New Roman" panose="02020603050405020304" pitchFamily="18" charset="0"/>
                          <a:cs typeface="Times New Roman" panose="02020603050405020304" pitchFamily="18" charset="0"/>
                        </a:rPr>
                        <a:t>    </a:t>
                      </a:r>
                    </a:p>
                    <a:p>
                      <a:pPr algn="ctr">
                        <a:lnSpc>
                          <a:spcPct val="100000"/>
                        </a:lnSpc>
                      </a:pPr>
                      <a:r>
                        <a:rPr lang="en-IN" sz="1400" dirty="0">
                          <a:latin typeface="Times New Roman" panose="02020603050405020304" pitchFamily="18" charset="0"/>
                          <a:cs typeface="Times New Roman" panose="02020603050405020304" pitchFamily="18" charset="0"/>
                        </a:rPr>
                        <a:t>Provides a survey of methods but does not propose an integrated system combining clause classification, trust scoring, and user recommendations.</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BE8EB"/>
                    </a:solidFill>
                  </a:tcPr>
                </a:tc>
                <a:extLst>
                  <a:ext uri="{0D108BD9-81ED-4DB2-BD59-A6C34878D82A}">
                    <a16:rowId xmlns:a16="http://schemas.microsoft.com/office/drawing/2014/main" val="10002"/>
                  </a:ext>
                </a:extLst>
              </a:tr>
              <a:tr h="1335405">
                <a:tc>
                  <a:txBody>
                    <a:bodyPr/>
                    <a:lstStyle/>
                    <a:p>
                      <a:pPr>
                        <a:lnSpc>
                          <a:spcPct val="100000"/>
                        </a:lnSpc>
                      </a:pPr>
                      <a:endParaRPr lang="en-IN" sz="1700" dirty="0">
                        <a:latin typeface="Times New Roman"/>
                        <a:cs typeface="Times New Roman"/>
                      </a:endParaRPr>
                    </a:p>
                    <a:p>
                      <a:pPr>
                        <a:lnSpc>
                          <a:spcPct val="100000"/>
                        </a:lnSpc>
                      </a:pPr>
                      <a:r>
                        <a:rPr lang="en-IN" sz="1700" dirty="0">
                          <a:latin typeface="Times New Roman"/>
                          <a:cs typeface="Times New Roman"/>
                        </a:rPr>
                        <a:t>     3</a:t>
                      </a: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2278F"/>
                    </a:solidFill>
                  </a:tcPr>
                </a:tc>
                <a:tc>
                  <a:txBody>
                    <a:bodyPr/>
                    <a:lstStyle/>
                    <a:p>
                      <a:pPr algn="ctr">
                        <a:lnSpc>
                          <a:spcPct val="100000"/>
                        </a:lnSpc>
                      </a:pPr>
                      <a:r>
                        <a:rPr lang="en-IN" sz="1400" dirty="0">
                          <a:latin typeface="Times New Roman" panose="02020603050405020304" pitchFamily="18" charset="0"/>
                          <a:cs typeface="Times New Roman" panose="02020603050405020304" pitchFamily="18" charset="0"/>
                        </a:rPr>
                        <a:t>  </a:t>
                      </a:r>
                    </a:p>
                    <a:p>
                      <a:pPr algn="ctr">
                        <a:lnSpc>
                          <a:spcPct val="100000"/>
                        </a:lnSpc>
                      </a:pPr>
                      <a:r>
                        <a:rPr lang="en-IN" sz="1400" dirty="0">
                          <a:latin typeface="Times New Roman" panose="02020603050405020304" pitchFamily="18" charset="0"/>
                          <a:cs typeface="Times New Roman" panose="02020603050405020304" pitchFamily="18" charset="0"/>
                        </a:rPr>
                        <a:t>A Survey of Classification Tasks and Approaches for Legal Contract Analysis</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CCDDB"/>
                    </a:solidFill>
                  </a:tcPr>
                </a:tc>
                <a:tc>
                  <a:txBody>
                    <a:bodyPr/>
                    <a:lstStyle/>
                    <a:p>
                      <a:pPr algn="ctr">
                        <a:lnSpc>
                          <a:spcPct val="100000"/>
                        </a:lnSpc>
                      </a:pPr>
                      <a:r>
                        <a:rPr lang="en-IN" sz="1400" dirty="0">
                          <a:latin typeface="Times New Roman" panose="02020603050405020304" pitchFamily="18" charset="0"/>
                          <a:cs typeface="Times New Roman" panose="02020603050405020304" pitchFamily="18" charset="0"/>
                        </a:rPr>
                        <a:t>  </a:t>
                      </a:r>
                    </a:p>
                    <a:p>
                      <a:pPr algn="ctr">
                        <a:lnSpc>
                          <a:spcPct val="100000"/>
                        </a:lnSpc>
                      </a:pPr>
                      <a:r>
                        <a:rPr lang="en-IN" sz="1400" dirty="0">
                          <a:latin typeface="Times New Roman" panose="02020603050405020304" pitchFamily="18" charset="0"/>
                          <a:cs typeface="Times New Roman" panose="02020603050405020304" pitchFamily="18" charset="0"/>
                        </a:rPr>
                        <a:t> 2026</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CCDDB"/>
                    </a:solidFill>
                  </a:tcPr>
                </a:tc>
                <a:tc>
                  <a:txBody>
                    <a:bodyPr/>
                    <a:lstStyle/>
                    <a:p>
                      <a:pPr algn="ctr">
                        <a:lnSpc>
                          <a:spcPct val="100000"/>
                        </a:lnSpc>
                      </a:pPr>
                      <a:r>
                        <a:rPr lang="en-IN" sz="1400" dirty="0">
                          <a:latin typeface="Times New Roman" panose="02020603050405020304" pitchFamily="18" charset="0"/>
                          <a:cs typeface="Times New Roman" panose="02020603050405020304" pitchFamily="18" charset="0"/>
                        </a:rPr>
                        <a:t>  </a:t>
                      </a:r>
                    </a:p>
                    <a:p>
                      <a:pPr algn="ctr">
                        <a:lnSpc>
                          <a:spcPct val="100000"/>
                        </a:lnSpc>
                      </a:pPr>
                      <a:r>
                        <a:rPr lang="en-IN" sz="1400" dirty="0">
                          <a:latin typeface="Times New Roman" panose="02020603050405020304" pitchFamily="18" charset="0"/>
                          <a:cs typeface="Times New Roman" panose="02020603050405020304" pitchFamily="18" charset="0"/>
                        </a:rPr>
                        <a:t>Multiple Authors</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CCDDB"/>
                    </a:solidFill>
                  </a:tcPr>
                </a:tc>
                <a:tc>
                  <a:txBody>
                    <a:bodyPr/>
                    <a:lstStyle/>
                    <a:p>
                      <a:pPr algn="ctr">
                        <a:lnSpc>
                          <a:spcPct val="100000"/>
                        </a:lnSpc>
                      </a:pPr>
                      <a:r>
                        <a:rPr lang="en-IN" sz="1400" dirty="0">
                          <a:latin typeface="Times New Roman" panose="02020603050405020304" pitchFamily="18" charset="0"/>
                          <a:cs typeface="Times New Roman" panose="02020603050405020304" pitchFamily="18" charset="0"/>
                        </a:rPr>
                        <a:t> </a:t>
                      </a:r>
                    </a:p>
                    <a:p>
                      <a:pPr algn="ctr">
                        <a:lnSpc>
                          <a:spcPct val="100000"/>
                        </a:lnSpc>
                      </a:pPr>
                      <a:r>
                        <a:rPr lang="en-IN" sz="1400" dirty="0">
                          <a:latin typeface="Times New Roman" panose="02020603050405020304" pitchFamily="18" charset="0"/>
                          <a:cs typeface="Times New Roman" panose="02020603050405020304" pitchFamily="18" charset="0"/>
                        </a:rPr>
                        <a:t>    Reviews legal contract classification tasks, datasets, and approaches including traditional ML, deep learning, and LLMs.</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CCDDB"/>
                    </a:solidFill>
                  </a:tcPr>
                </a:tc>
                <a:tc>
                  <a:txBody>
                    <a:bodyPr/>
                    <a:lstStyle/>
                    <a:p>
                      <a:pPr algn="ctr">
                        <a:lnSpc>
                          <a:spcPct val="100000"/>
                        </a:lnSpc>
                      </a:pPr>
                      <a:r>
                        <a:rPr lang="en-IN" sz="1400" dirty="0">
                          <a:latin typeface="Times New Roman" panose="02020603050405020304" pitchFamily="18" charset="0"/>
                          <a:cs typeface="Times New Roman" panose="02020603050405020304" pitchFamily="18" charset="0"/>
                        </a:rPr>
                        <a:t>   </a:t>
                      </a:r>
                    </a:p>
                    <a:p>
                      <a:pPr algn="ctr">
                        <a:lnSpc>
                          <a:spcPct val="100000"/>
                        </a:lnSpc>
                      </a:pPr>
                      <a:r>
                        <a:rPr lang="en-IN" sz="1400" dirty="0">
                          <a:latin typeface="Times New Roman" panose="02020603050405020304" pitchFamily="18" charset="0"/>
                          <a:cs typeface="Times New Roman" panose="02020603050405020304" pitchFamily="18" charset="0"/>
                        </a:rPr>
                        <a:t> Focuses on benchmarking rather than delivering simplified legal explanations, AI recommendations, or end-user applications</a:t>
                      </a:r>
                      <a:endParaRPr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CCDDB"/>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60475" cy="6856730"/>
            <a:chOff x="0" y="0"/>
            <a:chExt cx="1260475" cy="6856730"/>
          </a:xfrm>
        </p:grpSpPr>
        <p:pic>
          <p:nvPicPr>
            <p:cNvPr id="3" name="object 3"/>
            <p:cNvPicPr/>
            <p:nvPr/>
          </p:nvPicPr>
          <p:blipFill>
            <a:blip r:embed="rId2" cstate="print"/>
            <a:stretch>
              <a:fillRect/>
            </a:stretch>
          </p:blipFill>
          <p:spPr>
            <a:xfrm>
              <a:off x="329184" y="100584"/>
              <a:ext cx="931163" cy="1046987"/>
            </a:xfrm>
            <a:prstGeom prst="rect">
              <a:avLst/>
            </a:prstGeom>
          </p:spPr>
        </p:pic>
        <p:pic>
          <p:nvPicPr>
            <p:cNvPr id="4" name="object 4"/>
            <p:cNvPicPr/>
            <p:nvPr/>
          </p:nvPicPr>
          <p:blipFill>
            <a:blip r:embed="rId3" cstate="print"/>
            <a:stretch>
              <a:fillRect/>
            </a:stretch>
          </p:blipFill>
          <p:spPr>
            <a:xfrm>
              <a:off x="0" y="0"/>
              <a:ext cx="326136" cy="6856475"/>
            </a:xfrm>
            <a:prstGeom prst="rect">
              <a:avLst/>
            </a:prstGeom>
          </p:spPr>
        </p:pic>
        <p:sp>
          <p:nvSpPr>
            <p:cNvPr id="5" name="object 5"/>
            <p:cNvSpPr/>
            <p:nvPr/>
          </p:nvSpPr>
          <p:spPr>
            <a:xfrm>
              <a:off x="0" y="0"/>
              <a:ext cx="271145" cy="6854825"/>
            </a:xfrm>
            <a:custGeom>
              <a:avLst/>
              <a:gdLst/>
              <a:ahLst/>
              <a:cxnLst/>
              <a:rect l="l" t="t" r="r" b="b"/>
              <a:pathLst>
                <a:path w="271145" h="6854825">
                  <a:moveTo>
                    <a:pt x="270738" y="0"/>
                  </a:moveTo>
                  <a:lnTo>
                    <a:pt x="0" y="0"/>
                  </a:lnTo>
                  <a:lnTo>
                    <a:pt x="0" y="6854444"/>
                  </a:lnTo>
                  <a:lnTo>
                    <a:pt x="270738" y="6854444"/>
                  </a:lnTo>
                  <a:lnTo>
                    <a:pt x="270738" y="0"/>
                  </a:lnTo>
                  <a:close/>
                </a:path>
              </a:pathLst>
            </a:custGeom>
            <a:solidFill>
              <a:srgbClr val="FF5050"/>
            </a:solidFill>
          </p:spPr>
          <p:txBody>
            <a:bodyPr wrap="square" lIns="0" tIns="0" rIns="0" bIns="0" rtlCol="0"/>
            <a:lstStyle/>
            <a:p>
              <a:endParaRPr/>
            </a:p>
          </p:txBody>
        </p:sp>
      </p:grpSp>
      <p:sp>
        <p:nvSpPr>
          <p:cNvPr id="6" name="object 6"/>
          <p:cNvSpPr txBox="1">
            <a:spLocks noGrp="1"/>
          </p:cNvSpPr>
          <p:nvPr>
            <p:ph type="title"/>
          </p:nvPr>
        </p:nvSpPr>
        <p:spPr>
          <a:xfrm>
            <a:off x="1715261" y="352424"/>
            <a:ext cx="2861310" cy="635000"/>
          </a:xfrm>
          <a:prstGeom prst="rect">
            <a:avLst/>
          </a:prstGeom>
        </p:spPr>
        <p:txBody>
          <a:bodyPr vert="horz" wrap="square" lIns="0" tIns="12065" rIns="0" bIns="0" rtlCol="0">
            <a:spAutoFit/>
          </a:bodyPr>
          <a:lstStyle/>
          <a:p>
            <a:pPr marL="12700">
              <a:lnSpc>
                <a:spcPct val="100000"/>
              </a:lnSpc>
              <a:spcBef>
                <a:spcPts val="95"/>
              </a:spcBef>
            </a:pPr>
            <a:r>
              <a:rPr sz="4000" spc="-10" dirty="0"/>
              <a:t>Methodology</a:t>
            </a:r>
            <a:endParaRPr sz="4000"/>
          </a:p>
        </p:txBody>
      </p:sp>
      <p:sp>
        <p:nvSpPr>
          <p:cNvPr id="8" name="object 8"/>
          <p:cNvSpPr txBox="1"/>
          <p:nvPr/>
        </p:nvSpPr>
        <p:spPr>
          <a:xfrm>
            <a:off x="347268" y="6584299"/>
            <a:ext cx="1918335" cy="222885"/>
          </a:xfrm>
          <a:prstGeom prst="rect">
            <a:avLst/>
          </a:prstGeom>
        </p:spPr>
        <p:txBody>
          <a:bodyPr vert="horz" wrap="square" lIns="0" tIns="0" rIns="0" bIns="0" rtlCol="0">
            <a:spAutoFit/>
          </a:bodyPr>
          <a:lstStyle/>
          <a:p>
            <a:pPr marL="12700">
              <a:lnSpc>
                <a:spcPts val="1630"/>
              </a:lnSpc>
            </a:pPr>
            <a:r>
              <a:rPr sz="1400" b="1" dirty="0">
                <a:solidFill>
                  <a:srgbClr val="D362D2"/>
                </a:solidFill>
                <a:latin typeface="Times New Roman"/>
                <a:cs typeface="Times New Roman"/>
              </a:rPr>
              <a:t>Project</a:t>
            </a:r>
            <a:r>
              <a:rPr sz="1400" b="1" spc="-15" dirty="0">
                <a:solidFill>
                  <a:srgbClr val="D362D2"/>
                </a:solidFill>
                <a:latin typeface="Times New Roman"/>
                <a:cs typeface="Times New Roman"/>
              </a:rPr>
              <a:t> </a:t>
            </a:r>
            <a:r>
              <a:rPr sz="1400" b="1" spc="-20" dirty="0">
                <a:solidFill>
                  <a:srgbClr val="D362D2"/>
                </a:solidFill>
                <a:latin typeface="Times New Roman"/>
                <a:cs typeface="Times New Roman"/>
              </a:rPr>
              <a:t>Idea</a:t>
            </a:r>
            <a:r>
              <a:rPr sz="1400" b="1" spc="-55" dirty="0">
                <a:solidFill>
                  <a:srgbClr val="D362D2"/>
                </a:solidFill>
                <a:latin typeface="Times New Roman"/>
                <a:cs typeface="Times New Roman"/>
              </a:rPr>
              <a:t> </a:t>
            </a:r>
            <a:r>
              <a:rPr sz="1400" b="1" spc="-20" dirty="0">
                <a:solidFill>
                  <a:srgbClr val="D362D2"/>
                </a:solidFill>
                <a:latin typeface="Times New Roman"/>
                <a:cs typeface="Times New Roman"/>
              </a:rPr>
              <a:t>Presentation</a:t>
            </a:r>
            <a:endParaRPr sz="1400">
              <a:latin typeface="Times New Roman"/>
              <a:cs typeface="Times New Roman"/>
            </a:endParaRPr>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630"/>
              </a:lnSpc>
            </a:pPr>
            <a:r>
              <a:rPr dirty="0"/>
              <a:t>2026-</a:t>
            </a:r>
            <a:r>
              <a:rPr spc="-20" dirty="0"/>
              <a:t>2027</a:t>
            </a: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87325">
              <a:lnSpc>
                <a:spcPts val="1630"/>
              </a:lnSpc>
            </a:pPr>
            <a:r>
              <a:rPr spc="-35" dirty="0"/>
              <a:t>Department</a:t>
            </a:r>
            <a:r>
              <a:rPr spc="-30" dirty="0"/>
              <a:t> </a:t>
            </a:r>
            <a:r>
              <a:rPr dirty="0"/>
              <a:t>of</a:t>
            </a:r>
            <a:r>
              <a:rPr spc="55" dirty="0"/>
              <a:t> </a:t>
            </a:r>
            <a:r>
              <a:rPr spc="-30" dirty="0"/>
              <a:t>Information</a:t>
            </a:r>
            <a:r>
              <a:rPr spc="-105" dirty="0"/>
              <a:t> </a:t>
            </a:r>
            <a:r>
              <a:rPr spc="-10" dirty="0"/>
              <a:t>Technology</a:t>
            </a:r>
          </a:p>
        </p:txBody>
      </p:sp>
      <p:graphicFrame>
        <p:nvGraphicFramePr>
          <p:cNvPr id="7" name="object 7"/>
          <p:cNvGraphicFramePr>
            <a:graphicFrameLocks noGrp="1"/>
          </p:cNvGraphicFramePr>
          <p:nvPr>
            <p:extLst>
              <p:ext uri="{D42A27DB-BD31-4B8C-83A1-F6EECF244321}">
                <p14:modId xmlns:p14="http://schemas.microsoft.com/office/powerpoint/2010/main" val="2911453132"/>
              </p:ext>
            </p:extLst>
          </p:nvPr>
        </p:nvGraphicFramePr>
        <p:xfrm>
          <a:off x="609600" y="1168353"/>
          <a:ext cx="10876562" cy="5357915"/>
        </p:xfrm>
        <a:graphic>
          <a:graphicData uri="http://schemas.openxmlformats.org/drawingml/2006/table">
            <a:tbl>
              <a:tblPr firstRow="1" bandRow="1">
                <a:tableStyleId>{2D5ABB26-0587-4C30-8999-92F81FD0307C}</a:tableStyleId>
              </a:tblPr>
              <a:tblGrid>
                <a:gridCol w="1844517">
                  <a:extLst>
                    <a:ext uri="{9D8B030D-6E8A-4147-A177-3AD203B41FA5}">
                      <a16:colId xmlns:a16="http://schemas.microsoft.com/office/drawing/2014/main" val="20000"/>
                    </a:ext>
                  </a:extLst>
                </a:gridCol>
                <a:gridCol w="6017833">
                  <a:extLst>
                    <a:ext uri="{9D8B030D-6E8A-4147-A177-3AD203B41FA5}">
                      <a16:colId xmlns:a16="http://schemas.microsoft.com/office/drawing/2014/main" val="20001"/>
                    </a:ext>
                  </a:extLst>
                </a:gridCol>
                <a:gridCol w="3014212">
                  <a:extLst>
                    <a:ext uri="{9D8B030D-6E8A-4147-A177-3AD203B41FA5}">
                      <a16:colId xmlns:a16="http://schemas.microsoft.com/office/drawing/2014/main" val="20002"/>
                    </a:ext>
                  </a:extLst>
                </a:gridCol>
              </a:tblGrid>
              <a:tr h="499664">
                <a:tc>
                  <a:txBody>
                    <a:bodyPr/>
                    <a:lstStyle/>
                    <a:p>
                      <a:pPr algn="ctr">
                        <a:buNone/>
                      </a:pPr>
                      <a:r>
                        <a:rPr lang="en-IN" sz="1600" b="1" dirty="0">
                          <a:latin typeface="Times New Roman" panose="02020603050405020304" pitchFamily="18" charset="0"/>
                          <a:cs typeface="Times New Roman" panose="02020603050405020304" pitchFamily="18" charset="0"/>
                        </a:rPr>
                        <a:t>Phase</a:t>
                      </a:r>
                      <a:endParaRPr lang="en-IN" sz="1600" dirty="0">
                        <a:latin typeface="Times New Roman" panose="02020603050405020304" pitchFamily="18" charset="0"/>
                        <a:cs typeface="Times New Roman" panose="02020603050405020304" pitchFamily="18" charset="0"/>
                      </a:endParaRPr>
                    </a:p>
                  </a:txBody>
                  <a:tcPr anchor="ctr">
                    <a:lnL w="12700">
                      <a:solidFill>
                        <a:srgbClr val="FFFFFF"/>
                      </a:solidFill>
                      <a:prstDash val="solid"/>
                    </a:lnL>
                    <a:lnR w="12700">
                      <a:solidFill>
                        <a:srgbClr val="FFFFFF"/>
                      </a:solidFill>
                      <a:prstDash val="solid"/>
                    </a:lnR>
                    <a:lnT w="38100">
                      <a:solidFill>
                        <a:srgbClr val="D24623"/>
                      </a:solidFill>
                      <a:prstDash val="solid"/>
                    </a:lnT>
                    <a:lnB w="38100">
                      <a:solidFill>
                        <a:srgbClr val="FFFFFF"/>
                      </a:solidFill>
                      <a:prstDash val="solid"/>
                    </a:lnB>
                    <a:solidFill>
                      <a:srgbClr val="92278F"/>
                    </a:solidFill>
                  </a:tcPr>
                </a:tc>
                <a:tc>
                  <a:txBody>
                    <a:bodyPr/>
                    <a:lstStyle/>
                    <a:p>
                      <a:pPr algn="ctr">
                        <a:buNone/>
                      </a:pPr>
                      <a:r>
                        <a:rPr lang="en-IN" sz="1600" b="1">
                          <a:latin typeface="Times New Roman" panose="02020603050405020304" pitchFamily="18" charset="0"/>
                          <a:cs typeface="Times New Roman" panose="02020603050405020304" pitchFamily="18" charset="0"/>
                        </a:rPr>
                        <a:t>Description</a:t>
                      </a:r>
                      <a:endParaRPr lang="en-IN" sz="1600">
                        <a:latin typeface="Times New Roman" panose="02020603050405020304" pitchFamily="18" charset="0"/>
                        <a:cs typeface="Times New Roman" panose="02020603050405020304" pitchFamily="18" charset="0"/>
                      </a:endParaRPr>
                    </a:p>
                  </a:txBody>
                  <a:tcPr anchor="ctr">
                    <a:lnL w="12700">
                      <a:solidFill>
                        <a:srgbClr val="FFFFFF"/>
                      </a:solidFill>
                      <a:prstDash val="solid"/>
                    </a:lnL>
                    <a:lnR w="12700">
                      <a:solidFill>
                        <a:srgbClr val="FFFFFF"/>
                      </a:solidFill>
                      <a:prstDash val="solid"/>
                    </a:lnR>
                    <a:lnT w="38100">
                      <a:solidFill>
                        <a:srgbClr val="D24623"/>
                      </a:solidFill>
                      <a:prstDash val="solid"/>
                    </a:lnT>
                    <a:lnB w="38100">
                      <a:solidFill>
                        <a:srgbClr val="FFFFFF"/>
                      </a:solidFill>
                      <a:prstDash val="solid"/>
                    </a:lnB>
                    <a:solidFill>
                      <a:srgbClr val="92278F"/>
                    </a:solidFill>
                  </a:tcPr>
                </a:tc>
                <a:tc>
                  <a:txBody>
                    <a:bodyPr/>
                    <a:lstStyle/>
                    <a:p>
                      <a:pPr algn="ctr">
                        <a:buNone/>
                      </a:pPr>
                      <a:r>
                        <a:rPr lang="en-IN" sz="1600" b="1" dirty="0">
                          <a:latin typeface="Times New Roman" panose="02020603050405020304" pitchFamily="18" charset="0"/>
                          <a:cs typeface="Times New Roman" panose="02020603050405020304" pitchFamily="18" charset="0"/>
                        </a:rPr>
                        <a:t>Key Research Foundation</a:t>
                      </a:r>
                      <a:endParaRPr lang="en-IN" sz="1600" dirty="0">
                        <a:latin typeface="Times New Roman" panose="02020603050405020304" pitchFamily="18" charset="0"/>
                        <a:cs typeface="Times New Roman" panose="02020603050405020304" pitchFamily="18" charset="0"/>
                      </a:endParaRPr>
                    </a:p>
                  </a:txBody>
                  <a:tcPr anchor="ctr">
                    <a:lnL w="12700">
                      <a:solidFill>
                        <a:srgbClr val="FFFFFF"/>
                      </a:solidFill>
                      <a:prstDash val="solid"/>
                    </a:lnL>
                    <a:lnR w="12700">
                      <a:solidFill>
                        <a:srgbClr val="FFFFFF"/>
                      </a:solidFill>
                      <a:prstDash val="solid"/>
                    </a:lnR>
                    <a:lnT w="38100">
                      <a:solidFill>
                        <a:srgbClr val="D24623"/>
                      </a:solidFill>
                      <a:prstDash val="solid"/>
                    </a:lnT>
                    <a:lnB w="38100">
                      <a:solidFill>
                        <a:srgbClr val="FFFFFF"/>
                      </a:solidFill>
                      <a:prstDash val="solid"/>
                    </a:lnB>
                    <a:solidFill>
                      <a:srgbClr val="92278F"/>
                    </a:solidFill>
                  </a:tcPr>
                </a:tc>
                <a:extLst>
                  <a:ext uri="{0D108BD9-81ED-4DB2-BD59-A6C34878D82A}">
                    <a16:rowId xmlns:a16="http://schemas.microsoft.com/office/drawing/2014/main" val="10000"/>
                  </a:ext>
                </a:extLst>
              </a:tr>
              <a:tr h="645101">
                <a:tc>
                  <a:txBody>
                    <a:bodyPr/>
                    <a:lstStyle/>
                    <a:p>
                      <a:pPr algn="ctr">
                        <a:buNone/>
                      </a:pPr>
                      <a:r>
                        <a:rPr lang="en-IN" sz="1600" b="1">
                          <a:latin typeface="Times New Roman" panose="02020603050405020304" pitchFamily="18" charset="0"/>
                          <a:cs typeface="Times New Roman" panose="02020603050405020304" pitchFamily="18" charset="0"/>
                        </a:rPr>
                        <a:t>Data Collection</a:t>
                      </a:r>
                      <a:endParaRPr lang="en-IN" sz="1600">
                        <a:latin typeface="Times New Roman" panose="02020603050405020304" pitchFamily="18" charset="0"/>
                        <a:cs typeface="Times New Roman" panose="02020603050405020304" pitchFamily="18" charset="0"/>
                      </a:endParaRPr>
                    </a:p>
                  </a:txBody>
                  <a:tcPr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92278F"/>
                    </a:solidFill>
                  </a:tcPr>
                </a:tc>
                <a:tc>
                  <a:txBody>
                    <a:bodyPr/>
                    <a:lstStyle/>
                    <a:p>
                      <a:pPr algn="ctr">
                        <a:buNone/>
                      </a:pPr>
                      <a:r>
                        <a:rPr lang="en-IN" sz="1600" dirty="0">
                          <a:latin typeface="Times New Roman" panose="02020603050405020304" pitchFamily="18" charset="0"/>
                          <a:cs typeface="Times New Roman" panose="02020603050405020304" pitchFamily="18" charset="0"/>
                        </a:rPr>
                        <a:t>Collect legal and employment documents (</a:t>
                      </a:r>
                      <a:r>
                        <a:rPr lang="en-IN" sz="1600" dirty="0" err="1">
                          <a:latin typeface="Times New Roman" panose="02020603050405020304" pitchFamily="18" charset="0"/>
                          <a:cs typeface="Times New Roman" panose="02020603050405020304" pitchFamily="18" charset="0"/>
                        </a:rPr>
                        <a:t>ToS</a:t>
                      </a:r>
                      <a:r>
                        <a:rPr lang="en-IN" sz="1600" dirty="0">
                          <a:latin typeface="Times New Roman" panose="02020603050405020304" pitchFamily="18" charset="0"/>
                          <a:cs typeface="Times New Roman" panose="02020603050405020304" pitchFamily="18" charset="0"/>
                        </a:rPr>
                        <a:t>, Privacy Policies, Employment Contracts) from public datasets and websites.</a:t>
                      </a:r>
                      <a:endParaRPr lang="en-US" sz="1600" dirty="0">
                        <a:latin typeface="Times New Roman" panose="02020603050405020304" pitchFamily="18" charset="0"/>
                        <a:cs typeface="Times New Roman" panose="02020603050405020304" pitchFamily="18" charset="0"/>
                      </a:endParaRPr>
                    </a:p>
                  </a:txBody>
                  <a:tcPr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CCDDB"/>
                    </a:solidFill>
                  </a:tcPr>
                </a:tc>
                <a:tc>
                  <a:txBody>
                    <a:bodyPr/>
                    <a:lstStyle/>
                    <a:p>
                      <a:pPr algn="ctr">
                        <a:buNone/>
                      </a:pPr>
                      <a:r>
                        <a:rPr lang="en-IN" sz="1600" dirty="0">
                          <a:latin typeface="Times New Roman" panose="02020603050405020304" pitchFamily="18" charset="0"/>
                          <a:cs typeface="Times New Roman" panose="02020603050405020304" pitchFamily="18" charset="0"/>
                        </a:rPr>
                        <a:t>CUAD Dataset, </a:t>
                      </a:r>
                      <a:r>
                        <a:rPr lang="en-IN" sz="1600" dirty="0" err="1">
                          <a:latin typeface="Times New Roman" panose="02020603050405020304" pitchFamily="18" charset="0"/>
                          <a:cs typeface="Times New Roman" panose="02020603050405020304" pitchFamily="18" charset="0"/>
                        </a:rPr>
                        <a:t>ToS;DR</a:t>
                      </a:r>
                      <a:r>
                        <a:rPr lang="en-IN" sz="1600" dirty="0">
                          <a:latin typeface="Times New Roman" panose="02020603050405020304" pitchFamily="18" charset="0"/>
                          <a:cs typeface="Times New Roman" panose="02020603050405020304" pitchFamily="18" charset="0"/>
                        </a:rPr>
                        <a:t> Dataset, Public Legal Repositories</a:t>
                      </a:r>
                      <a:r>
                        <a:rPr lang="en-US" sz="1600" dirty="0">
                          <a:latin typeface="Times New Roman" panose="02020603050405020304" pitchFamily="18" charset="0"/>
                          <a:cs typeface="Times New Roman" panose="02020603050405020304" pitchFamily="18" charset="0"/>
                        </a:rPr>
                        <a:t>.</a:t>
                      </a:r>
                    </a:p>
                  </a:txBody>
                  <a:tcPr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CCDDB"/>
                    </a:solidFill>
                  </a:tcPr>
                </a:tc>
                <a:extLst>
                  <a:ext uri="{0D108BD9-81ED-4DB2-BD59-A6C34878D82A}">
                    <a16:rowId xmlns:a16="http://schemas.microsoft.com/office/drawing/2014/main" val="10001"/>
                  </a:ext>
                </a:extLst>
              </a:tr>
              <a:tr h="553903">
                <a:tc>
                  <a:txBody>
                    <a:bodyPr/>
                    <a:lstStyle/>
                    <a:p>
                      <a:pPr algn="ctr">
                        <a:buNone/>
                      </a:pPr>
                      <a:r>
                        <a:rPr lang="en-IN" sz="1600" b="1" dirty="0">
                          <a:latin typeface="Times New Roman" panose="02020603050405020304" pitchFamily="18" charset="0"/>
                          <a:cs typeface="Times New Roman" panose="02020603050405020304" pitchFamily="18" charset="0"/>
                        </a:rPr>
                        <a:t>Text Preprocessing</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2278F"/>
                    </a:solidFill>
                  </a:tcPr>
                </a:tc>
                <a:tc>
                  <a:txBody>
                    <a:bodyPr/>
                    <a:lstStyle/>
                    <a:p>
                      <a:pPr algn="ctr">
                        <a:buNone/>
                      </a:pPr>
                      <a:r>
                        <a:rPr lang="en-IN" sz="1600" dirty="0">
                          <a:latin typeface="Times New Roman" panose="02020603050405020304" pitchFamily="18" charset="0"/>
                          <a:cs typeface="Times New Roman" panose="02020603050405020304" pitchFamily="18" charset="0"/>
                        </a:rPr>
                        <a:t>Extract, clean, tokenize, and normalize text for analysis.</a:t>
                      </a:r>
                      <a:endParaRPr lang="en-US" sz="1600" dirty="0">
                        <a:latin typeface="Times New Roman" panose="02020603050405020304" pitchFamily="18" charset="0"/>
                        <a:cs typeface="Times New Roman" panose="02020603050405020304" pitchFamily="18" charset="0"/>
                      </a:endParaRP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8EB"/>
                    </a:solidFill>
                  </a:tcPr>
                </a:tc>
                <a:tc>
                  <a:txBody>
                    <a:bodyPr/>
                    <a:lstStyle/>
                    <a:p>
                      <a:pPr algn="ctr">
                        <a:buNone/>
                      </a:pPr>
                      <a:r>
                        <a:rPr lang="en-IN" sz="1600" dirty="0">
                          <a:latin typeface="Times New Roman" panose="02020603050405020304" pitchFamily="18" charset="0"/>
                          <a:cs typeface="Times New Roman" panose="02020603050405020304" pitchFamily="18" charset="0"/>
                        </a:rPr>
                        <a:t>NLP Techniques, </a:t>
                      </a:r>
                      <a:r>
                        <a:rPr lang="en-IN" sz="1600" dirty="0" err="1">
                          <a:latin typeface="Times New Roman" panose="02020603050405020304" pitchFamily="18" charset="0"/>
                          <a:cs typeface="Times New Roman" panose="02020603050405020304" pitchFamily="18" charset="0"/>
                        </a:rPr>
                        <a:t>spaCy</a:t>
                      </a:r>
                      <a:r>
                        <a:rPr lang="en-IN" sz="1600" dirty="0">
                          <a:latin typeface="Times New Roman" panose="02020603050405020304" pitchFamily="18" charset="0"/>
                          <a:cs typeface="Times New Roman" panose="02020603050405020304" pitchFamily="18" charset="0"/>
                        </a:rPr>
                        <a:t>, NLTK, OCR.</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8EB"/>
                    </a:solidFill>
                  </a:tcPr>
                </a:tc>
                <a:extLst>
                  <a:ext uri="{0D108BD9-81ED-4DB2-BD59-A6C34878D82A}">
                    <a16:rowId xmlns:a16="http://schemas.microsoft.com/office/drawing/2014/main" val="10002"/>
                  </a:ext>
                </a:extLst>
              </a:tr>
              <a:tr h="784511">
                <a:tc>
                  <a:txBody>
                    <a:bodyPr/>
                    <a:lstStyle/>
                    <a:p>
                      <a:pPr algn="ctr">
                        <a:buNone/>
                      </a:pPr>
                      <a:r>
                        <a:rPr lang="en-IN" sz="1600" b="1" dirty="0">
                          <a:latin typeface="Times New Roman" panose="02020603050405020304" pitchFamily="18" charset="0"/>
                          <a:cs typeface="Times New Roman" panose="02020603050405020304" pitchFamily="18" charset="0"/>
                        </a:rPr>
                        <a:t>AI-Based Document Analysis</a:t>
                      </a:r>
                    </a:p>
                  </a:txBody>
                  <a:tcPr anchor="ctr">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92278F"/>
                    </a:solidFill>
                  </a:tcPr>
                </a:tc>
                <a:tc>
                  <a:txBody>
                    <a:bodyPr/>
                    <a:lstStyle/>
                    <a:p>
                      <a:pPr algn="ctr">
                        <a:buNone/>
                      </a:pPr>
                      <a:r>
                        <a:rPr lang="en-IN" sz="1600" dirty="0">
                          <a:latin typeface="Times New Roman" panose="02020603050405020304" pitchFamily="18" charset="0"/>
                          <a:cs typeface="Times New Roman" panose="02020603050405020304" pitchFamily="18" charset="0"/>
                        </a:rPr>
                        <a:t>Analyse document semantics, extract clauses, and understand legal context using Large Language Models.</a:t>
                      </a:r>
                      <a:endParaRPr lang="en-US" sz="1600" dirty="0">
                        <a:latin typeface="Times New Roman" panose="02020603050405020304" pitchFamily="18" charset="0"/>
                        <a:cs typeface="Times New Roman" panose="02020603050405020304" pitchFamily="18" charset="0"/>
                      </a:endParaRPr>
                    </a:p>
                  </a:txBody>
                  <a:tcPr anchor="ctr">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DCCDDB"/>
                    </a:solidFill>
                  </a:tcPr>
                </a:tc>
                <a:tc>
                  <a:txBody>
                    <a:bodyPr/>
                    <a:lstStyle/>
                    <a:p>
                      <a:pPr algn="ctr">
                        <a:buNone/>
                      </a:pPr>
                      <a:r>
                        <a:rPr lang="en-IN" sz="1600" dirty="0">
                          <a:latin typeface="Times New Roman" panose="02020603050405020304" pitchFamily="18" charset="0"/>
                          <a:cs typeface="Times New Roman" panose="02020603050405020304" pitchFamily="18" charset="0"/>
                        </a:rPr>
                        <a:t>Transformer Models (BERT, Legal-BERT, Llama 3, Mistral)</a:t>
                      </a:r>
                    </a:p>
                  </a:txBody>
                  <a:tcPr anchor="ctr">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DCCDDB"/>
                    </a:solidFill>
                  </a:tcPr>
                </a:tc>
                <a:extLst>
                  <a:ext uri="{0D108BD9-81ED-4DB2-BD59-A6C34878D82A}">
                    <a16:rowId xmlns:a16="http://schemas.microsoft.com/office/drawing/2014/main" val="10003"/>
                  </a:ext>
                </a:extLst>
              </a:tr>
              <a:tr h="784511">
                <a:tc>
                  <a:txBody>
                    <a:bodyPr/>
                    <a:lstStyle/>
                    <a:p>
                      <a:pPr algn="ctr">
                        <a:buNone/>
                      </a:pPr>
                      <a:r>
                        <a:rPr lang="en-IN" sz="1600" b="1" dirty="0">
                          <a:latin typeface="Times New Roman" panose="02020603050405020304" pitchFamily="18" charset="0"/>
                          <a:cs typeface="Times New Roman" panose="02020603050405020304" pitchFamily="18" charset="0"/>
                        </a:rPr>
                        <a:t>Risk Detection &amp; Classification</a:t>
                      </a:r>
                    </a:p>
                  </a:txBody>
                  <a:tcPr anchor="ctr">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cap="flat" cmpd="sng" algn="ctr">
                      <a:solidFill>
                        <a:srgbClr val="FFFFFF"/>
                      </a:solidFill>
                      <a:prstDash val="solid"/>
                      <a:round/>
                      <a:headEnd type="none" w="med" len="med"/>
                      <a:tailEnd type="none" w="med" len="med"/>
                    </a:lnB>
                    <a:solidFill>
                      <a:srgbClr val="92278F"/>
                    </a:solidFill>
                  </a:tcPr>
                </a:tc>
                <a:tc>
                  <a:txBody>
                    <a:bodyPr/>
                    <a:lstStyle/>
                    <a:p>
                      <a:pPr algn="ctr">
                        <a:buNone/>
                      </a:pPr>
                      <a:r>
                        <a:rPr lang="en-IN" sz="1600" dirty="0">
                          <a:latin typeface="Times New Roman" panose="02020603050405020304" pitchFamily="18" charset="0"/>
                          <a:cs typeface="Times New Roman" panose="02020603050405020304" pitchFamily="18" charset="0"/>
                        </a:rPr>
                        <a:t>Identify Red Flags, Green Flags, hidden clauses, and classify legal risks.</a:t>
                      </a:r>
                      <a:endParaRPr lang="en-US" sz="1600" dirty="0">
                        <a:latin typeface="Times New Roman" panose="02020603050405020304" pitchFamily="18"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a:solidFill>
                        <a:srgbClr val="FFFFFF"/>
                      </a:solidFill>
                      <a:prstDash val="solid"/>
                    </a:lnT>
                    <a:lnB w="12700" cap="flat" cmpd="sng" algn="ctr">
                      <a:solidFill>
                        <a:srgbClr val="FFFFFF"/>
                      </a:solidFill>
                      <a:prstDash val="solid"/>
                      <a:round/>
                      <a:headEnd type="none" w="med" len="med"/>
                      <a:tailEnd type="none" w="med" len="med"/>
                    </a:lnB>
                    <a:solidFill>
                      <a:srgbClr val="DCCDDB"/>
                    </a:solidFill>
                  </a:tcPr>
                </a:tc>
                <a:tc>
                  <a:txBody>
                    <a:bodyPr/>
                    <a:lstStyle/>
                    <a:p>
                      <a:pPr algn="ctr">
                        <a:buNone/>
                      </a:pPr>
                      <a:r>
                        <a:rPr lang="en-IN" sz="1600" dirty="0">
                          <a:latin typeface="Times New Roman" panose="02020603050405020304" pitchFamily="18" charset="0"/>
                          <a:cs typeface="Times New Roman" panose="02020603050405020304" pitchFamily="18" charset="0"/>
                        </a:rPr>
                        <a:t>Explainable AI (XAI), Risk Scoring Algorithm, LLM-based Summarization</a:t>
                      </a:r>
                      <a:endParaRPr lang="en-US" sz="1600" dirty="0">
                        <a:latin typeface="Times New Roman" panose="02020603050405020304" pitchFamily="18"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DCCDDB"/>
                    </a:solidFill>
                  </a:tcPr>
                </a:tc>
                <a:extLst>
                  <a:ext uri="{0D108BD9-81ED-4DB2-BD59-A6C34878D82A}">
                    <a16:rowId xmlns:a16="http://schemas.microsoft.com/office/drawing/2014/main" val="2600018706"/>
                  </a:ext>
                </a:extLst>
              </a:tr>
              <a:tr h="994055">
                <a:tc>
                  <a:txBody>
                    <a:bodyPr/>
                    <a:lstStyle/>
                    <a:p>
                      <a:pPr algn="ctr">
                        <a:buNone/>
                      </a:pPr>
                      <a:r>
                        <a:rPr lang="en-IN" sz="1600" b="1" dirty="0">
                          <a:latin typeface="Times New Roman" panose="02020603050405020304" pitchFamily="18" charset="0"/>
                          <a:cs typeface="Times New Roman" panose="02020603050405020304" pitchFamily="18" charset="0"/>
                        </a:rPr>
                        <a:t>Trust Score &amp; Recommendations</a:t>
                      </a:r>
                    </a:p>
                  </a:txBody>
                  <a:tcPr anchor="ctr">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2278F"/>
                    </a:solidFill>
                  </a:tcPr>
                </a:tc>
                <a:tc>
                  <a:txBody>
                    <a:bodyPr/>
                    <a:lstStyle/>
                    <a:p>
                      <a:pPr algn="ctr">
                        <a:buNone/>
                      </a:pPr>
                      <a:r>
                        <a:rPr lang="en-IN" sz="1600" dirty="0">
                          <a:latin typeface="Times New Roman" panose="02020603050405020304" pitchFamily="18" charset="0"/>
                          <a:cs typeface="Times New Roman" panose="02020603050405020304" pitchFamily="18" charset="0"/>
                        </a:rPr>
                        <a:t>Generate Trust Score, simplify legal language, and provide personalized recommendations</a:t>
                      </a:r>
                      <a:r>
                        <a:rPr lang="en-US" sz="1600" dirty="0">
                          <a:latin typeface="Times New Roman" panose="02020603050405020304" pitchFamily="18" charset="0"/>
                          <a:cs typeface="Times New Roman" panose="02020603050405020304" pitchFamily="18" charset="0"/>
                        </a:rPr>
                        <a:t>.</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CDDB"/>
                    </a:solidFill>
                  </a:tcPr>
                </a:tc>
                <a:tc>
                  <a:txBody>
                    <a:bodyPr/>
                    <a:lstStyle/>
                    <a:p>
                      <a:pPr algn="ctr">
                        <a:buNone/>
                      </a:pPr>
                      <a:r>
                        <a:rPr lang="en-IN" sz="1600" dirty="0">
                          <a:latin typeface="Times New Roman" panose="02020603050405020304" pitchFamily="18" charset="0"/>
                          <a:cs typeface="Times New Roman" panose="02020603050405020304" pitchFamily="18" charset="0"/>
                        </a:rPr>
                        <a:t>RAG-enhanced multi-agent orchestration</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CDDB"/>
                    </a:solidFill>
                  </a:tcPr>
                </a:tc>
                <a:extLst>
                  <a:ext uri="{0D108BD9-81ED-4DB2-BD59-A6C34878D82A}">
                    <a16:rowId xmlns:a16="http://schemas.microsoft.com/office/drawing/2014/main" val="965904334"/>
                  </a:ext>
                </a:extLst>
              </a:tr>
              <a:tr h="994055">
                <a:tc>
                  <a:txBody>
                    <a:bodyPr/>
                    <a:lstStyle/>
                    <a:p>
                      <a:pPr algn="ctr">
                        <a:buNone/>
                      </a:pPr>
                      <a:r>
                        <a:rPr lang="en-IN" sz="1600" b="1" dirty="0">
                          <a:latin typeface="Times New Roman" panose="02020603050405020304" pitchFamily="18" charset="0"/>
                          <a:cs typeface="Times New Roman" panose="02020603050405020304" pitchFamily="18" charset="0"/>
                        </a:rPr>
                        <a:t>Multiplatform Delivery</a:t>
                      </a:r>
                    </a:p>
                  </a:txBody>
                  <a:tcPr anchor="ctr">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92278F"/>
                    </a:solidFill>
                  </a:tcPr>
                </a:tc>
                <a:tc>
                  <a:txBody>
                    <a:bodyPr/>
                    <a:lstStyle/>
                    <a:p>
                      <a:pPr algn="ctr">
                        <a:buNone/>
                      </a:pPr>
                      <a:r>
                        <a:rPr lang="en-IN" sz="1600" dirty="0">
                          <a:latin typeface="Times New Roman" panose="02020603050405020304" pitchFamily="18" charset="0"/>
                          <a:cs typeface="Times New Roman" panose="02020603050405020304" pitchFamily="18" charset="0"/>
                        </a:rPr>
                        <a:t>Display results through Web Application, Mobile Application, and Browser Extension</a:t>
                      </a:r>
                      <a:endParaRPr lang="en-US" sz="1600" dirty="0">
                        <a:latin typeface="Times New Roman" panose="02020603050405020304" pitchFamily="18" charset="0"/>
                        <a:cs typeface="Times New Roman" panose="02020603050405020304" pitchFamily="18"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DCCDDB"/>
                    </a:solidFill>
                  </a:tcPr>
                </a:tc>
                <a:tc>
                  <a:txBody>
                    <a:bodyPr/>
                    <a:lstStyle/>
                    <a:p>
                      <a:pPr algn="ctr">
                        <a:buNone/>
                      </a:pPr>
                      <a:r>
                        <a:rPr lang="en-IN" sz="1600" dirty="0">
                          <a:latin typeface="Times New Roman" panose="02020603050405020304" pitchFamily="18" charset="0"/>
                          <a:cs typeface="Times New Roman" panose="02020603050405020304" pitchFamily="18" charset="0"/>
                        </a:rPr>
                        <a:t>React.js, </a:t>
                      </a:r>
                      <a:r>
                        <a:rPr lang="en-IN" sz="1600" dirty="0" err="1">
                          <a:latin typeface="Times New Roman" panose="02020603050405020304" pitchFamily="18" charset="0"/>
                          <a:cs typeface="Times New Roman" panose="02020603050405020304" pitchFamily="18" charset="0"/>
                        </a:rPr>
                        <a:t>FastAPI</a:t>
                      </a:r>
                      <a:r>
                        <a:rPr lang="en-IN" sz="1600" dirty="0">
                          <a:latin typeface="Times New Roman" panose="02020603050405020304" pitchFamily="18" charset="0"/>
                          <a:cs typeface="Times New Roman" panose="02020603050405020304" pitchFamily="18" charset="0"/>
                        </a:rPr>
                        <a:t>, MongoDB, Chrome Extension API</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DCCDDB"/>
                    </a:solidFill>
                  </a:tcPr>
                </a:tc>
                <a:extLst>
                  <a:ext uri="{0D108BD9-81ED-4DB2-BD59-A6C34878D82A}">
                    <a16:rowId xmlns:a16="http://schemas.microsoft.com/office/drawing/2014/main" val="360131584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2703" y="367621"/>
            <a:ext cx="10591393" cy="662746"/>
          </a:xfrm>
          <a:prstGeom prst="rect">
            <a:avLst/>
          </a:prstGeom>
        </p:spPr>
        <p:txBody>
          <a:bodyPr vert="horz" wrap="square" lIns="0" tIns="107696" rIns="0" bIns="0" rtlCol="0">
            <a:spAutoFit/>
          </a:bodyPr>
          <a:lstStyle/>
          <a:p>
            <a:pPr marL="12700">
              <a:lnSpc>
                <a:spcPct val="100000"/>
              </a:lnSpc>
              <a:spcBef>
                <a:spcPts val="100"/>
              </a:spcBef>
            </a:pPr>
            <a:r>
              <a:rPr lang="en-IN" spc="-10" dirty="0"/>
              <a:t>     </a:t>
            </a:r>
            <a:r>
              <a:rPr spc="-10" dirty="0"/>
              <a:t>Proposed</a:t>
            </a:r>
            <a:r>
              <a:rPr spc="-204" dirty="0"/>
              <a:t> </a:t>
            </a:r>
            <a:r>
              <a:rPr spc="-10" dirty="0"/>
              <a:t>System</a:t>
            </a:r>
          </a:p>
        </p:txBody>
      </p:sp>
      <p:sp>
        <p:nvSpPr>
          <p:cNvPr id="3" name="object 3"/>
          <p:cNvSpPr txBox="1"/>
          <p:nvPr/>
        </p:nvSpPr>
        <p:spPr>
          <a:xfrm>
            <a:off x="347268" y="6584299"/>
            <a:ext cx="1918335" cy="222885"/>
          </a:xfrm>
          <a:prstGeom prst="rect">
            <a:avLst/>
          </a:prstGeom>
        </p:spPr>
        <p:txBody>
          <a:bodyPr vert="horz" wrap="square" lIns="0" tIns="0" rIns="0" bIns="0" rtlCol="0">
            <a:spAutoFit/>
          </a:bodyPr>
          <a:lstStyle/>
          <a:p>
            <a:pPr marL="12700">
              <a:lnSpc>
                <a:spcPts val="1630"/>
              </a:lnSpc>
            </a:pPr>
            <a:r>
              <a:rPr sz="1400" b="1" dirty="0">
                <a:solidFill>
                  <a:srgbClr val="D362D2"/>
                </a:solidFill>
                <a:latin typeface="Times New Roman"/>
                <a:cs typeface="Times New Roman"/>
              </a:rPr>
              <a:t>Project</a:t>
            </a:r>
            <a:r>
              <a:rPr sz="1400" b="1" spc="-15" dirty="0">
                <a:solidFill>
                  <a:srgbClr val="D362D2"/>
                </a:solidFill>
                <a:latin typeface="Times New Roman"/>
                <a:cs typeface="Times New Roman"/>
              </a:rPr>
              <a:t> </a:t>
            </a:r>
            <a:r>
              <a:rPr sz="1400" b="1" spc="-20" dirty="0">
                <a:solidFill>
                  <a:srgbClr val="D362D2"/>
                </a:solidFill>
                <a:latin typeface="Times New Roman"/>
                <a:cs typeface="Times New Roman"/>
              </a:rPr>
              <a:t>Idea</a:t>
            </a:r>
            <a:r>
              <a:rPr sz="1400" b="1" spc="-55" dirty="0">
                <a:solidFill>
                  <a:srgbClr val="D362D2"/>
                </a:solidFill>
                <a:latin typeface="Times New Roman"/>
                <a:cs typeface="Times New Roman"/>
              </a:rPr>
              <a:t> </a:t>
            </a:r>
            <a:r>
              <a:rPr sz="1400" b="1" spc="-20" dirty="0">
                <a:solidFill>
                  <a:srgbClr val="D362D2"/>
                </a:solidFill>
                <a:latin typeface="Times New Roman"/>
                <a:cs typeface="Times New Roman"/>
              </a:rPr>
              <a:t>Presentation</a:t>
            </a:r>
            <a:endParaRPr sz="1400">
              <a:latin typeface="Times New Roman"/>
              <a:cs typeface="Times New Roman"/>
            </a:endParaRP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630"/>
              </a:lnSpc>
            </a:pPr>
            <a:r>
              <a:rPr dirty="0"/>
              <a:t>2026-</a:t>
            </a:r>
            <a:r>
              <a:rPr spc="-20" dirty="0"/>
              <a:t>2027</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87325">
              <a:lnSpc>
                <a:spcPts val="1630"/>
              </a:lnSpc>
            </a:pPr>
            <a:r>
              <a:rPr spc="-35" dirty="0"/>
              <a:t>Department</a:t>
            </a:r>
            <a:r>
              <a:rPr spc="-30" dirty="0"/>
              <a:t> </a:t>
            </a:r>
            <a:r>
              <a:rPr dirty="0"/>
              <a:t>of</a:t>
            </a:r>
            <a:r>
              <a:rPr spc="55" dirty="0"/>
              <a:t> </a:t>
            </a:r>
            <a:r>
              <a:rPr spc="-30" dirty="0"/>
              <a:t>Information</a:t>
            </a:r>
            <a:r>
              <a:rPr spc="-105" dirty="0"/>
              <a:t> </a:t>
            </a:r>
            <a:r>
              <a:rPr spc="-10" dirty="0"/>
              <a:t>Technology</a:t>
            </a:r>
          </a:p>
        </p:txBody>
      </p:sp>
      <p:sp>
        <p:nvSpPr>
          <p:cNvPr id="8" name="object 6">
            <a:extLst>
              <a:ext uri="{FF2B5EF4-FFF2-40B4-BE49-F238E27FC236}">
                <a16:creationId xmlns:a16="http://schemas.microsoft.com/office/drawing/2014/main" id="{3A9CDE38-7270-A328-9C9B-13A0990C3DDC}"/>
              </a:ext>
            </a:extLst>
          </p:cNvPr>
          <p:cNvSpPr/>
          <p:nvPr/>
        </p:nvSpPr>
        <p:spPr>
          <a:xfrm>
            <a:off x="-3464" y="13566"/>
            <a:ext cx="271145" cy="6854825"/>
          </a:xfrm>
          <a:custGeom>
            <a:avLst/>
            <a:gdLst/>
            <a:ahLst/>
            <a:cxnLst/>
            <a:rect l="l" t="t" r="r" b="b"/>
            <a:pathLst>
              <a:path w="271145" h="6854825">
                <a:moveTo>
                  <a:pt x="270738" y="0"/>
                </a:moveTo>
                <a:lnTo>
                  <a:pt x="0" y="0"/>
                </a:lnTo>
                <a:lnTo>
                  <a:pt x="0" y="6854444"/>
                </a:lnTo>
                <a:lnTo>
                  <a:pt x="270738" y="6854444"/>
                </a:lnTo>
                <a:lnTo>
                  <a:pt x="270738" y="0"/>
                </a:lnTo>
                <a:close/>
              </a:path>
            </a:pathLst>
          </a:custGeom>
          <a:solidFill>
            <a:srgbClr val="FF5050"/>
          </a:solidFill>
        </p:spPr>
        <p:txBody>
          <a:bodyPr wrap="square" lIns="0" tIns="0" rIns="0" bIns="0" rtlCol="0"/>
          <a:lstStyle/>
          <a:p>
            <a:endParaRPr dirty="0"/>
          </a:p>
        </p:txBody>
      </p:sp>
      <p:pic>
        <p:nvPicPr>
          <p:cNvPr id="10" name="object 3">
            <a:extLst>
              <a:ext uri="{FF2B5EF4-FFF2-40B4-BE49-F238E27FC236}">
                <a16:creationId xmlns:a16="http://schemas.microsoft.com/office/drawing/2014/main" id="{AE85B36A-54FC-847D-EFF3-7F1836137F12}"/>
              </a:ext>
            </a:extLst>
          </p:cNvPr>
          <p:cNvPicPr/>
          <p:nvPr/>
        </p:nvPicPr>
        <p:blipFill>
          <a:blip r:embed="rId2" cstate="print"/>
          <a:stretch>
            <a:fillRect/>
          </a:stretch>
        </p:blipFill>
        <p:spPr>
          <a:xfrm>
            <a:off x="267681" y="144017"/>
            <a:ext cx="951519" cy="1046987"/>
          </a:xfrm>
          <a:prstGeom prst="rect">
            <a:avLst/>
          </a:prstGeom>
        </p:spPr>
      </p:pic>
      <p:sp>
        <p:nvSpPr>
          <p:cNvPr id="6" name="AutoShape 2" descr="Tech security workflow with AI analysis">
            <a:extLst>
              <a:ext uri="{FF2B5EF4-FFF2-40B4-BE49-F238E27FC236}">
                <a16:creationId xmlns:a16="http://schemas.microsoft.com/office/drawing/2014/main" id="{6863FBE7-3EBD-59C3-BDBD-208EFB586D8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 name="TextBox 14">
            <a:extLst>
              <a:ext uri="{FF2B5EF4-FFF2-40B4-BE49-F238E27FC236}">
                <a16:creationId xmlns:a16="http://schemas.microsoft.com/office/drawing/2014/main" id="{1FF6F193-F67F-F569-2220-FEBA1F219178}"/>
              </a:ext>
            </a:extLst>
          </p:cNvPr>
          <p:cNvSpPr txBox="1"/>
          <p:nvPr/>
        </p:nvSpPr>
        <p:spPr>
          <a:xfrm>
            <a:off x="3047301" y="3263209"/>
            <a:ext cx="6094602" cy="369332"/>
          </a:xfrm>
          <a:prstGeom prst="rect">
            <a:avLst/>
          </a:prstGeom>
          <a:noFill/>
        </p:spPr>
        <p:txBody>
          <a:bodyPr wrap="square">
            <a:spAutoFit/>
          </a:bodyPr>
          <a:lstStyle/>
          <a:p>
            <a:endParaRPr lang="en-IN" dirty="0"/>
          </a:p>
        </p:txBody>
      </p:sp>
      <p:pic>
        <p:nvPicPr>
          <p:cNvPr id="17" name="Picture 16">
            <a:extLst>
              <a:ext uri="{FF2B5EF4-FFF2-40B4-BE49-F238E27FC236}">
                <a16:creationId xmlns:a16="http://schemas.microsoft.com/office/drawing/2014/main" id="{459C655F-DFFB-C610-66AD-99F50EB39F0D}"/>
              </a:ext>
            </a:extLst>
          </p:cNvPr>
          <p:cNvPicPr>
            <a:picLocks noChangeAspect="1"/>
          </p:cNvPicPr>
          <p:nvPr/>
        </p:nvPicPr>
        <p:blipFill>
          <a:blip r:embed="rId3"/>
          <a:srcRect t="15384" b="1020"/>
          <a:stretch>
            <a:fillRect/>
          </a:stretch>
        </p:blipFill>
        <p:spPr>
          <a:xfrm>
            <a:off x="3808602" y="1272385"/>
            <a:ext cx="4572000" cy="49686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4266" y="1197102"/>
            <a:ext cx="10982960" cy="0"/>
          </a:xfrm>
          <a:custGeom>
            <a:avLst/>
            <a:gdLst/>
            <a:ahLst/>
            <a:cxnLst/>
            <a:rect l="l" t="t" r="r" b="b"/>
            <a:pathLst>
              <a:path w="10982960">
                <a:moveTo>
                  <a:pt x="0" y="0"/>
                </a:moveTo>
                <a:lnTo>
                  <a:pt x="10982960" y="0"/>
                </a:lnTo>
              </a:path>
            </a:pathLst>
          </a:custGeom>
          <a:ln w="25908">
            <a:solidFill>
              <a:srgbClr val="D24623"/>
            </a:solidFill>
          </a:ln>
        </p:spPr>
        <p:txBody>
          <a:bodyPr wrap="square" lIns="0" tIns="0" rIns="0" bIns="0" rtlCol="0"/>
          <a:lstStyle/>
          <a:p>
            <a:endParaRPr/>
          </a:p>
        </p:txBody>
      </p:sp>
      <p:sp>
        <p:nvSpPr>
          <p:cNvPr id="3" name="object 3"/>
          <p:cNvSpPr txBox="1">
            <a:spLocks noGrp="1"/>
          </p:cNvSpPr>
          <p:nvPr>
            <p:ph type="title"/>
          </p:nvPr>
        </p:nvSpPr>
        <p:spPr>
          <a:xfrm>
            <a:off x="686206" y="144017"/>
            <a:ext cx="10819587" cy="662746"/>
          </a:xfrm>
          <a:prstGeom prst="rect">
            <a:avLst/>
          </a:prstGeom>
        </p:spPr>
        <p:txBody>
          <a:bodyPr vert="horz" wrap="square" lIns="0" tIns="107696" rIns="0" bIns="0" rtlCol="0">
            <a:spAutoFit/>
          </a:bodyPr>
          <a:lstStyle/>
          <a:p>
            <a:pPr marL="12700">
              <a:lnSpc>
                <a:spcPct val="100000"/>
              </a:lnSpc>
              <a:spcBef>
                <a:spcPts val="100"/>
              </a:spcBef>
            </a:pPr>
            <a:r>
              <a:rPr lang="en-IN" dirty="0"/>
              <a:t>       </a:t>
            </a:r>
            <a:r>
              <a:rPr spc="-120" dirty="0"/>
              <a:t> </a:t>
            </a:r>
            <a:r>
              <a:rPr spc="-50" dirty="0"/>
              <a:t>Software</a:t>
            </a:r>
            <a:r>
              <a:rPr spc="-245" dirty="0"/>
              <a:t> </a:t>
            </a:r>
            <a:r>
              <a:rPr spc="-75" dirty="0"/>
              <a:t>Tools</a:t>
            </a:r>
            <a:r>
              <a:rPr spc="-130" dirty="0"/>
              <a:t> </a:t>
            </a:r>
            <a:r>
              <a:rPr dirty="0"/>
              <a:t>/</a:t>
            </a:r>
            <a:r>
              <a:rPr spc="-215" dirty="0"/>
              <a:t> </a:t>
            </a:r>
            <a:r>
              <a:rPr spc="-55" dirty="0"/>
              <a:t>Technologies</a:t>
            </a:r>
            <a:r>
              <a:rPr spc="-120" dirty="0"/>
              <a:t> </a:t>
            </a:r>
            <a:r>
              <a:rPr dirty="0"/>
              <a:t>to</a:t>
            </a:r>
            <a:r>
              <a:rPr spc="-85" dirty="0"/>
              <a:t> </a:t>
            </a:r>
            <a:r>
              <a:rPr dirty="0"/>
              <a:t>be</a:t>
            </a:r>
            <a:r>
              <a:rPr spc="-105" dirty="0"/>
              <a:t> </a:t>
            </a:r>
            <a:r>
              <a:rPr spc="-20" dirty="0"/>
              <a:t>Used</a:t>
            </a:r>
          </a:p>
        </p:txBody>
      </p:sp>
      <p:sp>
        <p:nvSpPr>
          <p:cNvPr id="5" name="object 5"/>
          <p:cNvSpPr txBox="1"/>
          <p:nvPr/>
        </p:nvSpPr>
        <p:spPr>
          <a:xfrm>
            <a:off x="347268" y="6584299"/>
            <a:ext cx="1918335" cy="222885"/>
          </a:xfrm>
          <a:prstGeom prst="rect">
            <a:avLst/>
          </a:prstGeom>
        </p:spPr>
        <p:txBody>
          <a:bodyPr vert="horz" wrap="square" lIns="0" tIns="0" rIns="0" bIns="0" rtlCol="0">
            <a:spAutoFit/>
          </a:bodyPr>
          <a:lstStyle/>
          <a:p>
            <a:pPr marL="12700">
              <a:lnSpc>
                <a:spcPts val="1630"/>
              </a:lnSpc>
            </a:pPr>
            <a:r>
              <a:rPr sz="1400" b="1" dirty="0">
                <a:solidFill>
                  <a:srgbClr val="D362D2"/>
                </a:solidFill>
                <a:latin typeface="Times New Roman"/>
                <a:cs typeface="Times New Roman"/>
              </a:rPr>
              <a:t>Project</a:t>
            </a:r>
            <a:r>
              <a:rPr sz="1400" b="1" spc="-15" dirty="0">
                <a:solidFill>
                  <a:srgbClr val="D362D2"/>
                </a:solidFill>
                <a:latin typeface="Times New Roman"/>
                <a:cs typeface="Times New Roman"/>
              </a:rPr>
              <a:t> </a:t>
            </a:r>
            <a:r>
              <a:rPr sz="1400" b="1" spc="-20" dirty="0">
                <a:solidFill>
                  <a:srgbClr val="D362D2"/>
                </a:solidFill>
                <a:latin typeface="Times New Roman"/>
                <a:cs typeface="Times New Roman"/>
              </a:rPr>
              <a:t>Idea</a:t>
            </a:r>
            <a:r>
              <a:rPr sz="1400" b="1" spc="-55" dirty="0">
                <a:solidFill>
                  <a:srgbClr val="D362D2"/>
                </a:solidFill>
                <a:latin typeface="Times New Roman"/>
                <a:cs typeface="Times New Roman"/>
              </a:rPr>
              <a:t> </a:t>
            </a:r>
            <a:r>
              <a:rPr sz="1400" b="1" spc="-20" dirty="0">
                <a:solidFill>
                  <a:srgbClr val="D362D2"/>
                </a:solidFill>
                <a:latin typeface="Times New Roman"/>
                <a:cs typeface="Times New Roman"/>
              </a:rPr>
              <a:t>Presentation</a:t>
            </a:r>
            <a:endParaRPr sz="1400">
              <a:latin typeface="Times New Roman"/>
              <a:cs typeface="Times New Roman"/>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630"/>
              </a:lnSpc>
            </a:pPr>
            <a:r>
              <a:rPr dirty="0"/>
              <a:t>2026-</a:t>
            </a:r>
            <a:r>
              <a:rPr spc="-20" dirty="0"/>
              <a:t>2027</a:t>
            </a: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87325">
              <a:lnSpc>
                <a:spcPts val="1630"/>
              </a:lnSpc>
            </a:pPr>
            <a:r>
              <a:rPr spc="-35" dirty="0"/>
              <a:t>Department</a:t>
            </a:r>
            <a:r>
              <a:rPr spc="-30" dirty="0"/>
              <a:t> </a:t>
            </a:r>
            <a:r>
              <a:rPr dirty="0"/>
              <a:t>of</a:t>
            </a:r>
            <a:r>
              <a:rPr spc="55" dirty="0"/>
              <a:t> </a:t>
            </a:r>
            <a:r>
              <a:rPr spc="-30" dirty="0"/>
              <a:t>Information</a:t>
            </a:r>
            <a:r>
              <a:rPr spc="-105" dirty="0"/>
              <a:t> </a:t>
            </a:r>
            <a:r>
              <a:rPr spc="-10" dirty="0"/>
              <a:t>Technology</a:t>
            </a:r>
          </a:p>
        </p:txBody>
      </p:sp>
      <p:sp>
        <p:nvSpPr>
          <p:cNvPr id="8" name="TextBox 7">
            <a:extLst>
              <a:ext uri="{FF2B5EF4-FFF2-40B4-BE49-F238E27FC236}">
                <a16:creationId xmlns:a16="http://schemas.microsoft.com/office/drawing/2014/main" id="{E6D50B1A-11E6-5CBE-C85E-2445B92DC3B8}"/>
              </a:ext>
            </a:extLst>
          </p:cNvPr>
          <p:cNvSpPr txBox="1"/>
          <p:nvPr/>
        </p:nvSpPr>
        <p:spPr>
          <a:xfrm>
            <a:off x="838199" y="1258682"/>
            <a:ext cx="10667594" cy="369332"/>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9" name="object 6">
            <a:extLst>
              <a:ext uri="{FF2B5EF4-FFF2-40B4-BE49-F238E27FC236}">
                <a16:creationId xmlns:a16="http://schemas.microsoft.com/office/drawing/2014/main" id="{0AD85449-FA7F-11B6-B636-C1F5179F8A92}"/>
              </a:ext>
            </a:extLst>
          </p:cNvPr>
          <p:cNvSpPr/>
          <p:nvPr/>
        </p:nvSpPr>
        <p:spPr>
          <a:xfrm>
            <a:off x="-12103" y="76339"/>
            <a:ext cx="271145" cy="6854825"/>
          </a:xfrm>
          <a:custGeom>
            <a:avLst/>
            <a:gdLst/>
            <a:ahLst/>
            <a:cxnLst/>
            <a:rect l="l" t="t" r="r" b="b"/>
            <a:pathLst>
              <a:path w="271145" h="6854825">
                <a:moveTo>
                  <a:pt x="270738" y="0"/>
                </a:moveTo>
                <a:lnTo>
                  <a:pt x="0" y="0"/>
                </a:lnTo>
                <a:lnTo>
                  <a:pt x="0" y="6854444"/>
                </a:lnTo>
                <a:lnTo>
                  <a:pt x="270738" y="6854444"/>
                </a:lnTo>
                <a:lnTo>
                  <a:pt x="270738" y="0"/>
                </a:lnTo>
                <a:close/>
              </a:path>
            </a:pathLst>
          </a:custGeom>
          <a:solidFill>
            <a:srgbClr val="FF5050"/>
          </a:solidFill>
        </p:spPr>
        <p:txBody>
          <a:bodyPr wrap="square" lIns="0" tIns="0" rIns="0" bIns="0" rtlCol="0"/>
          <a:lstStyle/>
          <a:p>
            <a:endParaRPr dirty="0"/>
          </a:p>
        </p:txBody>
      </p:sp>
      <p:pic>
        <p:nvPicPr>
          <p:cNvPr id="11" name="object 3">
            <a:extLst>
              <a:ext uri="{FF2B5EF4-FFF2-40B4-BE49-F238E27FC236}">
                <a16:creationId xmlns:a16="http://schemas.microsoft.com/office/drawing/2014/main" id="{55C08C7D-71E7-FFF8-26F5-0510A15CAF57}"/>
              </a:ext>
            </a:extLst>
          </p:cNvPr>
          <p:cNvPicPr/>
          <p:nvPr/>
        </p:nvPicPr>
        <p:blipFill>
          <a:blip r:embed="rId2" cstate="print"/>
          <a:stretch>
            <a:fillRect/>
          </a:stretch>
        </p:blipFill>
        <p:spPr>
          <a:xfrm>
            <a:off x="267681" y="76339"/>
            <a:ext cx="1027719" cy="1114665"/>
          </a:xfrm>
          <a:prstGeom prst="rect">
            <a:avLst/>
          </a:prstGeom>
        </p:spPr>
      </p:pic>
      <p:graphicFrame>
        <p:nvGraphicFramePr>
          <p:cNvPr id="20" name="Table 19">
            <a:extLst>
              <a:ext uri="{FF2B5EF4-FFF2-40B4-BE49-F238E27FC236}">
                <a16:creationId xmlns:a16="http://schemas.microsoft.com/office/drawing/2014/main" id="{93D355D2-FA23-0A70-B0A6-DD71483276D8}"/>
              </a:ext>
            </a:extLst>
          </p:cNvPr>
          <p:cNvGraphicFramePr>
            <a:graphicFrameLocks noGrp="1"/>
          </p:cNvGraphicFramePr>
          <p:nvPr>
            <p:extLst>
              <p:ext uri="{D42A27DB-BD31-4B8C-83A1-F6EECF244321}">
                <p14:modId xmlns:p14="http://schemas.microsoft.com/office/powerpoint/2010/main" val="2850081585"/>
              </p:ext>
            </p:extLst>
          </p:nvPr>
        </p:nvGraphicFramePr>
        <p:xfrm>
          <a:off x="990600" y="1424471"/>
          <a:ext cx="9448800" cy="4727088"/>
        </p:xfrm>
        <a:graphic>
          <a:graphicData uri="http://schemas.openxmlformats.org/drawingml/2006/table">
            <a:tbl>
              <a:tblPr firstRow="1" bandRow="1">
                <a:tableStyleId>{5C22544A-7EE6-4342-B048-85BDC9FD1C3A}</a:tableStyleId>
              </a:tblPr>
              <a:tblGrid>
                <a:gridCol w="2923223">
                  <a:extLst>
                    <a:ext uri="{9D8B030D-6E8A-4147-A177-3AD203B41FA5}">
                      <a16:colId xmlns:a16="http://schemas.microsoft.com/office/drawing/2014/main" val="3882823658"/>
                    </a:ext>
                  </a:extLst>
                </a:gridCol>
                <a:gridCol w="6525577">
                  <a:extLst>
                    <a:ext uri="{9D8B030D-6E8A-4147-A177-3AD203B41FA5}">
                      <a16:colId xmlns:a16="http://schemas.microsoft.com/office/drawing/2014/main" val="3389205941"/>
                    </a:ext>
                  </a:extLst>
                </a:gridCol>
              </a:tblGrid>
              <a:tr h="525232">
                <a:tc>
                  <a:txBody>
                    <a:bodyPr/>
                    <a:lstStyle/>
                    <a:p>
                      <a:pPr>
                        <a:buNone/>
                      </a:pPr>
                      <a:r>
                        <a:rPr lang="en-IN" b="1" dirty="0"/>
                        <a:t>Category</a:t>
                      </a:r>
                    </a:p>
                  </a:txBody>
                  <a:tcPr anchor="ctr"/>
                </a:tc>
                <a:tc>
                  <a:txBody>
                    <a:bodyPr/>
                    <a:lstStyle/>
                    <a:p>
                      <a:pPr>
                        <a:buNone/>
                      </a:pPr>
                      <a:r>
                        <a:rPr lang="en-IN" b="1" dirty="0"/>
                        <a:t>Technology</a:t>
                      </a:r>
                    </a:p>
                  </a:txBody>
                  <a:tcPr anchor="ctr"/>
                </a:tc>
                <a:extLst>
                  <a:ext uri="{0D108BD9-81ED-4DB2-BD59-A6C34878D82A}">
                    <a16:rowId xmlns:a16="http://schemas.microsoft.com/office/drawing/2014/main" val="4261717225"/>
                  </a:ext>
                </a:extLst>
              </a:tr>
              <a:tr h="525232">
                <a:tc>
                  <a:txBody>
                    <a:bodyPr/>
                    <a:lstStyle/>
                    <a:p>
                      <a:r>
                        <a:rPr lang="en-IN" b="1" dirty="0"/>
                        <a:t>Frontend</a:t>
                      </a:r>
                    </a:p>
                  </a:txBody>
                  <a:tcPr/>
                </a:tc>
                <a:tc>
                  <a:txBody>
                    <a:bodyPr/>
                    <a:lstStyle/>
                    <a:p>
                      <a:pPr>
                        <a:buNone/>
                      </a:pPr>
                      <a:r>
                        <a:rPr lang="en-IN" b="1" dirty="0"/>
                        <a:t>React.js,HTML5,CSS3,Tailwind CSS</a:t>
                      </a:r>
                    </a:p>
                  </a:txBody>
                  <a:tcPr anchor="ctr"/>
                </a:tc>
                <a:extLst>
                  <a:ext uri="{0D108BD9-81ED-4DB2-BD59-A6C34878D82A}">
                    <a16:rowId xmlns:a16="http://schemas.microsoft.com/office/drawing/2014/main" val="1978928756"/>
                  </a:ext>
                </a:extLst>
              </a:tr>
              <a:tr h="525232">
                <a:tc>
                  <a:txBody>
                    <a:bodyPr/>
                    <a:lstStyle/>
                    <a:p>
                      <a:r>
                        <a:rPr lang="en-IN" b="1" dirty="0"/>
                        <a:t>Backend</a:t>
                      </a:r>
                    </a:p>
                  </a:txBody>
                  <a:tcPr/>
                </a:tc>
                <a:tc>
                  <a:txBody>
                    <a:bodyPr/>
                    <a:lstStyle/>
                    <a:p>
                      <a:r>
                        <a:rPr lang="en-IN" b="1" dirty="0"/>
                        <a:t>Python , </a:t>
                      </a:r>
                      <a:r>
                        <a:rPr lang="en-IN" b="1" dirty="0" err="1"/>
                        <a:t>FastAPI</a:t>
                      </a:r>
                      <a:r>
                        <a:rPr lang="en-IN" b="1" dirty="0"/>
                        <a:t>, </a:t>
                      </a:r>
                      <a:r>
                        <a:rPr lang="en-IN" b="1" dirty="0" err="1"/>
                        <a:t>Uvicorn</a:t>
                      </a:r>
                      <a:endParaRPr lang="en-IN" b="1" dirty="0"/>
                    </a:p>
                  </a:txBody>
                  <a:tcPr/>
                </a:tc>
                <a:extLst>
                  <a:ext uri="{0D108BD9-81ED-4DB2-BD59-A6C34878D82A}">
                    <a16:rowId xmlns:a16="http://schemas.microsoft.com/office/drawing/2014/main" val="1601105293"/>
                  </a:ext>
                </a:extLst>
              </a:tr>
              <a:tr h="525232">
                <a:tc>
                  <a:txBody>
                    <a:bodyPr/>
                    <a:lstStyle/>
                    <a:p>
                      <a:r>
                        <a:rPr lang="en-IN" b="1" dirty="0"/>
                        <a:t>AI/NLP </a:t>
                      </a:r>
                    </a:p>
                  </a:txBody>
                  <a:tcPr/>
                </a:tc>
                <a:tc>
                  <a:txBody>
                    <a:bodyPr/>
                    <a:lstStyle/>
                    <a:p>
                      <a:r>
                        <a:rPr lang="en-IN" b="1" dirty="0"/>
                        <a:t>Hugging Face , spaCy,NLTK,Llama3</a:t>
                      </a:r>
                    </a:p>
                  </a:txBody>
                  <a:tcPr/>
                </a:tc>
                <a:extLst>
                  <a:ext uri="{0D108BD9-81ED-4DB2-BD59-A6C34878D82A}">
                    <a16:rowId xmlns:a16="http://schemas.microsoft.com/office/drawing/2014/main" val="3480548522"/>
                  </a:ext>
                </a:extLst>
              </a:tr>
              <a:tr h="525232">
                <a:tc>
                  <a:txBody>
                    <a:bodyPr/>
                    <a:lstStyle/>
                    <a:p>
                      <a:r>
                        <a:rPr lang="en-IN" b="1" dirty="0"/>
                        <a:t>ML</a:t>
                      </a:r>
                    </a:p>
                  </a:txBody>
                  <a:tcPr/>
                </a:tc>
                <a:tc>
                  <a:txBody>
                    <a:bodyPr/>
                    <a:lstStyle/>
                    <a:p>
                      <a:r>
                        <a:rPr lang="en-IN" b="1" dirty="0" err="1"/>
                        <a:t>PyTorch,Scikit</a:t>
                      </a:r>
                      <a:r>
                        <a:rPr lang="en-IN" b="1" dirty="0"/>
                        <a:t>-learn</a:t>
                      </a:r>
                    </a:p>
                  </a:txBody>
                  <a:tcPr/>
                </a:tc>
                <a:extLst>
                  <a:ext uri="{0D108BD9-81ED-4DB2-BD59-A6C34878D82A}">
                    <a16:rowId xmlns:a16="http://schemas.microsoft.com/office/drawing/2014/main" val="1379614508"/>
                  </a:ext>
                </a:extLst>
              </a:tr>
              <a:tr h="525232">
                <a:tc>
                  <a:txBody>
                    <a:bodyPr/>
                    <a:lstStyle/>
                    <a:p>
                      <a:r>
                        <a:rPr lang="en-IN" b="1" dirty="0"/>
                        <a:t>Database </a:t>
                      </a:r>
                    </a:p>
                  </a:txBody>
                  <a:tcPr/>
                </a:tc>
                <a:tc>
                  <a:txBody>
                    <a:bodyPr/>
                    <a:lstStyle/>
                    <a:p>
                      <a:r>
                        <a:rPr lang="en-IN" b="1" dirty="0"/>
                        <a:t>MongoDB , Firebase</a:t>
                      </a:r>
                    </a:p>
                  </a:txBody>
                  <a:tcPr/>
                </a:tc>
                <a:extLst>
                  <a:ext uri="{0D108BD9-81ED-4DB2-BD59-A6C34878D82A}">
                    <a16:rowId xmlns:a16="http://schemas.microsoft.com/office/drawing/2014/main" val="501682672"/>
                  </a:ext>
                </a:extLst>
              </a:tr>
              <a:tr h="525232">
                <a:tc>
                  <a:txBody>
                    <a:bodyPr/>
                    <a:lstStyle/>
                    <a:p>
                      <a:r>
                        <a:rPr lang="en-IN" b="1" dirty="0"/>
                        <a:t>Document Processing</a:t>
                      </a:r>
                    </a:p>
                  </a:txBody>
                  <a:tcPr/>
                </a:tc>
                <a:tc>
                  <a:txBody>
                    <a:bodyPr/>
                    <a:lstStyle/>
                    <a:p>
                      <a:r>
                        <a:rPr lang="en-IN" b="1" dirty="0"/>
                        <a:t> </a:t>
                      </a:r>
                      <a:r>
                        <a:rPr lang="en-IN" b="1" dirty="0" err="1"/>
                        <a:t>PyMuPDF</a:t>
                      </a:r>
                      <a:r>
                        <a:rPr lang="en-IN" b="1" dirty="0"/>
                        <a:t>, python-docx, </a:t>
                      </a:r>
                      <a:r>
                        <a:rPr lang="en-IN" b="1" dirty="0" err="1"/>
                        <a:t>BeautifulSoup</a:t>
                      </a:r>
                      <a:endParaRPr lang="en-IN" b="1" dirty="0"/>
                    </a:p>
                  </a:txBody>
                  <a:tcPr/>
                </a:tc>
                <a:extLst>
                  <a:ext uri="{0D108BD9-81ED-4DB2-BD59-A6C34878D82A}">
                    <a16:rowId xmlns:a16="http://schemas.microsoft.com/office/drawing/2014/main" val="3507601980"/>
                  </a:ext>
                </a:extLst>
              </a:tr>
              <a:tr h="525232">
                <a:tc>
                  <a:txBody>
                    <a:bodyPr/>
                    <a:lstStyle/>
                    <a:p>
                      <a:r>
                        <a:rPr lang="en-IN" b="1" dirty="0"/>
                        <a:t>Browser Extension</a:t>
                      </a:r>
                    </a:p>
                  </a:txBody>
                  <a:tcPr/>
                </a:tc>
                <a:tc>
                  <a:txBody>
                    <a:bodyPr/>
                    <a:lstStyle/>
                    <a:p>
                      <a:r>
                        <a:rPr lang="en-IN" b="1" dirty="0"/>
                        <a:t>Chrome Extension API</a:t>
                      </a:r>
                    </a:p>
                  </a:txBody>
                  <a:tcPr/>
                </a:tc>
                <a:extLst>
                  <a:ext uri="{0D108BD9-81ED-4DB2-BD59-A6C34878D82A}">
                    <a16:rowId xmlns:a16="http://schemas.microsoft.com/office/drawing/2014/main" val="3551696577"/>
                  </a:ext>
                </a:extLst>
              </a:tr>
              <a:tr h="525232">
                <a:tc>
                  <a:txBody>
                    <a:bodyPr/>
                    <a:lstStyle/>
                    <a:p>
                      <a:r>
                        <a:rPr lang="en-IN" b="1" dirty="0"/>
                        <a:t>Version Control</a:t>
                      </a:r>
                    </a:p>
                  </a:txBody>
                  <a:tcPr/>
                </a:tc>
                <a:tc>
                  <a:txBody>
                    <a:bodyPr/>
                    <a:lstStyle/>
                    <a:p>
                      <a:r>
                        <a:rPr lang="en-IN" b="1" dirty="0"/>
                        <a:t>Git, GitHub</a:t>
                      </a:r>
                    </a:p>
                  </a:txBody>
                  <a:tcPr/>
                </a:tc>
                <a:extLst>
                  <a:ext uri="{0D108BD9-81ED-4DB2-BD59-A6C34878D82A}">
                    <a16:rowId xmlns:a16="http://schemas.microsoft.com/office/drawing/2014/main" val="65224238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4266" y="1197102"/>
            <a:ext cx="10982960" cy="0"/>
          </a:xfrm>
          <a:custGeom>
            <a:avLst/>
            <a:gdLst/>
            <a:ahLst/>
            <a:cxnLst/>
            <a:rect l="l" t="t" r="r" b="b"/>
            <a:pathLst>
              <a:path w="10982960">
                <a:moveTo>
                  <a:pt x="0" y="0"/>
                </a:moveTo>
                <a:lnTo>
                  <a:pt x="10982960" y="0"/>
                </a:lnTo>
              </a:path>
            </a:pathLst>
          </a:custGeom>
          <a:ln w="25908">
            <a:solidFill>
              <a:srgbClr val="D24623"/>
            </a:solidFill>
          </a:ln>
        </p:spPr>
        <p:txBody>
          <a:bodyPr wrap="square" lIns="0" tIns="0" rIns="0" bIns="0" rtlCol="0"/>
          <a:lstStyle/>
          <a:p>
            <a:endParaRPr/>
          </a:p>
        </p:txBody>
      </p:sp>
      <p:sp>
        <p:nvSpPr>
          <p:cNvPr id="3" name="object 3"/>
          <p:cNvSpPr txBox="1">
            <a:spLocks noGrp="1"/>
          </p:cNvSpPr>
          <p:nvPr>
            <p:ph type="title"/>
          </p:nvPr>
        </p:nvSpPr>
        <p:spPr>
          <a:xfrm>
            <a:off x="1066800" y="446278"/>
            <a:ext cx="5029200" cy="627736"/>
          </a:xfrm>
          <a:prstGeom prst="rect">
            <a:avLst/>
          </a:prstGeom>
        </p:spPr>
        <p:txBody>
          <a:bodyPr vert="horz" wrap="square" lIns="0" tIns="12065" rIns="0" bIns="0" rtlCol="0">
            <a:spAutoFit/>
          </a:bodyPr>
          <a:lstStyle/>
          <a:p>
            <a:pPr marL="12700">
              <a:lnSpc>
                <a:spcPct val="100000"/>
              </a:lnSpc>
              <a:spcBef>
                <a:spcPts val="95"/>
              </a:spcBef>
            </a:pPr>
            <a:r>
              <a:rPr lang="en-IN" sz="4000" spc="-35" dirty="0"/>
              <a:t>    </a:t>
            </a:r>
            <a:r>
              <a:rPr sz="4000" spc="-35" dirty="0"/>
              <a:t>Relevant</a:t>
            </a:r>
            <a:r>
              <a:rPr sz="4000" spc="-190" dirty="0"/>
              <a:t> </a:t>
            </a:r>
            <a:r>
              <a:rPr sz="4000" spc="-20" dirty="0"/>
              <a:t>SDG’s</a:t>
            </a:r>
            <a:endParaRPr sz="4000" dirty="0"/>
          </a:p>
        </p:txBody>
      </p:sp>
      <p:sp>
        <p:nvSpPr>
          <p:cNvPr id="5" name="object 5"/>
          <p:cNvSpPr txBox="1"/>
          <p:nvPr/>
        </p:nvSpPr>
        <p:spPr>
          <a:xfrm>
            <a:off x="347268" y="6584299"/>
            <a:ext cx="1918335" cy="222885"/>
          </a:xfrm>
          <a:prstGeom prst="rect">
            <a:avLst/>
          </a:prstGeom>
        </p:spPr>
        <p:txBody>
          <a:bodyPr vert="horz" wrap="square" lIns="0" tIns="0" rIns="0" bIns="0" rtlCol="0">
            <a:spAutoFit/>
          </a:bodyPr>
          <a:lstStyle/>
          <a:p>
            <a:pPr marL="12700">
              <a:lnSpc>
                <a:spcPts val="1630"/>
              </a:lnSpc>
            </a:pPr>
            <a:r>
              <a:rPr sz="1400" b="1" dirty="0">
                <a:solidFill>
                  <a:srgbClr val="D362D2"/>
                </a:solidFill>
                <a:latin typeface="Times New Roman"/>
                <a:cs typeface="Times New Roman"/>
              </a:rPr>
              <a:t>Project</a:t>
            </a:r>
            <a:r>
              <a:rPr sz="1400" b="1" spc="-15" dirty="0">
                <a:solidFill>
                  <a:srgbClr val="D362D2"/>
                </a:solidFill>
                <a:latin typeface="Times New Roman"/>
                <a:cs typeface="Times New Roman"/>
              </a:rPr>
              <a:t> </a:t>
            </a:r>
            <a:r>
              <a:rPr sz="1400" b="1" spc="-20" dirty="0">
                <a:solidFill>
                  <a:srgbClr val="D362D2"/>
                </a:solidFill>
                <a:latin typeface="Times New Roman"/>
                <a:cs typeface="Times New Roman"/>
              </a:rPr>
              <a:t>Idea</a:t>
            </a:r>
            <a:r>
              <a:rPr sz="1400" b="1" spc="-55" dirty="0">
                <a:solidFill>
                  <a:srgbClr val="D362D2"/>
                </a:solidFill>
                <a:latin typeface="Times New Roman"/>
                <a:cs typeface="Times New Roman"/>
              </a:rPr>
              <a:t> </a:t>
            </a:r>
            <a:r>
              <a:rPr sz="1400" b="1" spc="-20" dirty="0">
                <a:solidFill>
                  <a:srgbClr val="D362D2"/>
                </a:solidFill>
                <a:latin typeface="Times New Roman"/>
                <a:cs typeface="Times New Roman"/>
              </a:rPr>
              <a:t>Presentation</a:t>
            </a:r>
            <a:endParaRPr sz="1400">
              <a:latin typeface="Times New Roman"/>
              <a:cs typeface="Times New Roman"/>
            </a:endParaRPr>
          </a:p>
        </p:txBody>
      </p:sp>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630"/>
              </a:lnSpc>
            </a:pPr>
            <a:r>
              <a:rPr dirty="0"/>
              <a:t>2026-</a:t>
            </a:r>
            <a:r>
              <a:rPr spc="-20" dirty="0"/>
              <a:t>2027</a:t>
            </a: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87325">
              <a:lnSpc>
                <a:spcPts val="1630"/>
              </a:lnSpc>
            </a:pPr>
            <a:r>
              <a:rPr spc="-35" dirty="0"/>
              <a:t>Department</a:t>
            </a:r>
            <a:r>
              <a:rPr spc="-30" dirty="0"/>
              <a:t> </a:t>
            </a:r>
            <a:r>
              <a:rPr dirty="0"/>
              <a:t>of</a:t>
            </a:r>
            <a:r>
              <a:rPr spc="55" dirty="0"/>
              <a:t> </a:t>
            </a:r>
            <a:r>
              <a:rPr spc="-30" dirty="0"/>
              <a:t>Information</a:t>
            </a:r>
            <a:r>
              <a:rPr spc="-105" dirty="0"/>
              <a:t> </a:t>
            </a:r>
            <a:r>
              <a:rPr spc="-10" dirty="0"/>
              <a:t>Technology</a:t>
            </a:r>
          </a:p>
        </p:txBody>
      </p:sp>
      <p:sp>
        <p:nvSpPr>
          <p:cNvPr id="9" name="TextBox 8">
            <a:extLst>
              <a:ext uri="{FF2B5EF4-FFF2-40B4-BE49-F238E27FC236}">
                <a16:creationId xmlns:a16="http://schemas.microsoft.com/office/drawing/2014/main" id="{9559928A-8A5F-1DE9-3842-382A05E66E54}"/>
              </a:ext>
            </a:extLst>
          </p:cNvPr>
          <p:cNvSpPr txBox="1"/>
          <p:nvPr/>
        </p:nvSpPr>
        <p:spPr>
          <a:xfrm>
            <a:off x="838200" y="1524000"/>
            <a:ext cx="10134600" cy="3785652"/>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SDG 9: Industry, Innovation and Infrastructure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This project promotes innovation by leveraging </a:t>
            </a:r>
            <a:r>
              <a:rPr lang="en-IN" sz="1600" b="1" dirty="0">
                <a:latin typeface="Times New Roman" panose="02020603050405020304" pitchFamily="18" charset="0"/>
                <a:cs typeface="Times New Roman" panose="02020603050405020304" pitchFamily="18" charset="0"/>
              </a:rPr>
              <a:t>Artificial Intelligence (AI)</a:t>
            </a:r>
            <a:r>
              <a:rPr lang="en-IN" sz="1600" dirty="0">
                <a:latin typeface="Times New Roman" panose="02020603050405020304" pitchFamily="18" charset="0"/>
                <a:cs typeface="Times New Roman" panose="02020603050405020304" pitchFamily="18" charset="0"/>
              </a:rPr>
              <a:t> and </a:t>
            </a:r>
            <a:r>
              <a:rPr lang="en-IN" sz="1600" b="1" dirty="0">
                <a:latin typeface="Times New Roman" panose="02020603050405020304" pitchFamily="18" charset="0"/>
                <a:cs typeface="Times New Roman" panose="02020603050405020304" pitchFamily="18" charset="0"/>
              </a:rPr>
              <a:t>Natural Language Processing (NLP)</a:t>
            </a:r>
            <a:r>
              <a:rPr lang="en-IN" sz="1600" dirty="0">
                <a:latin typeface="Times New Roman" panose="02020603050405020304" pitchFamily="18" charset="0"/>
                <a:cs typeface="Times New Roman" panose="02020603050405020304" pitchFamily="18" charset="0"/>
              </a:rPr>
              <a:t> to automate legal and employment document analysis. It strengthens digital infrastructure by providing an intelligent platform that enhances document transparency, accessibility, and decision-making.</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SDG 16: Peace, Justice and Strong Institution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The system supports access to justice by simplifying complex legal language, improving transparency in contracts, and helping users identify unfair or risky clauses before accepting legal or employment agreements. This empowers individuals to make informed and legally aware decisions.</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pPr algn="l"/>
            <a:r>
              <a:rPr lang="en-IN" sz="1600" b="1" dirty="0">
                <a:latin typeface="Times New Roman" panose="02020603050405020304" pitchFamily="18" charset="0"/>
                <a:cs typeface="Times New Roman" panose="02020603050405020304" pitchFamily="18" charset="0"/>
              </a:rPr>
              <a:t>SDG 8: Decent Work and Economic Growth</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By analysing employment contracts and identifying unfair terms, hidden obligations, and employee rights, the system promotes fair employment practices, protects workers, and contributes to decent work opportunities.</a:t>
            </a:r>
          </a:p>
          <a:p>
            <a:pPr algn="l"/>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
        <p:nvSpPr>
          <p:cNvPr id="11" name="object 6">
            <a:extLst>
              <a:ext uri="{FF2B5EF4-FFF2-40B4-BE49-F238E27FC236}">
                <a16:creationId xmlns:a16="http://schemas.microsoft.com/office/drawing/2014/main" id="{E785A630-EE1A-54D5-019B-8D887F6C9142}"/>
              </a:ext>
            </a:extLst>
          </p:cNvPr>
          <p:cNvSpPr/>
          <p:nvPr/>
        </p:nvSpPr>
        <p:spPr>
          <a:xfrm>
            <a:off x="-12103" y="76339"/>
            <a:ext cx="271145" cy="6854825"/>
          </a:xfrm>
          <a:custGeom>
            <a:avLst/>
            <a:gdLst/>
            <a:ahLst/>
            <a:cxnLst/>
            <a:rect l="l" t="t" r="r" b="b"/>
            <a:pathLst>
              <a:path w="271145" h="6854825">
                <a:moveTo>
                  <a:pt x="270738" y="0"/>
                </a:moveTo>
                <a:lnTo>
                  <a:pt x="0" y="0"/>
                </a:lnTo>
                <a:lnTo>
                  <a:pt x="0" y="6854444"/>
                </a:lnTo>
                <a:lnTo>
                  <a:pt x="270738" y="6854444"/>
                </a:lnTo>
                <a:lnTo>
                  <a:pt x="270738" y="0"/>
                </a:lnTo>
                <a:close/>
              </a:path>
            </a:pathLst>
          </a:custGeom>
          <a:solidFill>
            <a:srgbClr val="FF5050"/>
          </a:solidFill>
        </p:spPr>
        <p:txBody>
          <a:bodyPr wrap="square" lIns="0" tIns="0" rIns="0" bIns="0" rtlCol="0"/>
          <a:lstStyle/>
          <a:p>
            <a:endParaRPr dirty="0"/>
          </a:p>
        </p:txBody>
      </p:sp>
      <p:pic>
        <p:nvPicPr>
          <p:cNvPr id="13" name="object 3">
            <a:extLst>
              <a:ext uri="{FF2B5EF4-FFF2-40B4-BE49-F238E27FC236}">
                <a16:creationId xmlns:a16="http://schemas.microsoft.com/office/drawing/2014/main" id="{E276D496-C28B-7B15-AD7B-09773BF6622B}"/>
              </a:ext>
            </a:extLst>
          </p:cNvPr>
          <p:cNvPicPr/>
          <p:nvPr/>
        </p:nvPicPr>
        <p:blipFill>
          <a:blip r:embed="rId2" cstate="print"/>
          <a:stretch>
            <a:fillRect/>
          </a:stretch>
        </p:blipFill>
        <p:spPr>
          <a:xfrm>
            <a:off x="267681" y="152399"/>
            <a:ext cx="1027719" cy="10386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268D2-241C-0BC0-2A4F-5D46B688291D}"/>
              </a:ext>
            </a:extLst>
          </p:cNvPr>
          <p:cNvSpPr>
            <a:spLocks noGrp="1"/>
          </p:cNvSpPr>
          <p:nvPr>
            <p:ph type="ctrTitle"/>
          </p:nvPr>
        </p:nvSpPr>
        <p:spPr>
          <a:xfrm>
            <a:off x="1524001" y="352424"/>
            <a:ext cx="4344796" cy="553998"/>
          </a:xfrm>
        </p:spPr>
        <p:txBody>
          <a:bodyPr/>
          <a:lstStyle/>
          <a:p>
            <a:r>
              <a:rPr lang="en-IN" dirty="0"/>
              <a:t>References </a:t>
            </a:r>
          </a:p>
        </p:txBody>
      </p:sp>
      <p:sp>
        <p:nvSpPr>
          <p:cNvPr id="3" name="Subtitle 2">
            <a:extLst>
              <a:ext uri="{FF2B5EF4-FFF2-40B4-BE49-F238E27FC236}">
                <a16:creationId xmlns:a16="http://schemas.microsoft.com/office/drawing/2014/main" id="{559DD18C-3ACB-57D6-0A3E-96CF42AF8D09}"/>
              </a:ext>
            </a:extLst>
          </p:cNvPr>
          <p:cNvSpPr>
            <a:spLocks noGrp="1"/>
          </p:cNvSpPr>
          <p:nvPr>
            <p:ph type="subTitle" idx="4"/>
          </p:nvPr>
        </p:nvSpPr>
        <p:spPr>
          <a:xfrm>
            <a:off x="801496" y="1600200"/>
            <a:ext cx="10552304" cy="4616648"/>
          </a:xfrm>
        </p:spPr>
        <p:txBody>
          <a:bodyPr/>
          <a:lstStyle/>
          <a:p>
            <a:pPr marL="342900" lvl="0" indent="-342900" algn="just" rtl="0" eaLnBrk="0" fontAlgn="base" hangingPunct="0">
              <a:spcBef>
                <a:spcPct val="0"/>
              </a:spcBef>
              <a:spcAft>
                <a:spcPct val="0"/>
              </a:spcAft>
              <a:buFont typeface="Wingdings" panose="05000000000000000000" pitchFamily="2" charset="2"/>
              <a:buChar char="§"/>
            </a:pPr>
            <a:r>
              <a:rPr lang="en-IN" dirty="0"/>
              <a:t> </a:t>
            </a:r>
            <a:r>
              <a:rPr lang="en-US" altLang="en-US" b="0" dirty="0">
                <a:latin typeface="Times New Roman" panose="02020603050405020304" pitchFamily="18" charset="0"/>
                <a:cs typeface="Times New Roman" panose="02020603050405020304" pitchFamily="18" charset="0"/>
              </a:rPr>
              <a:t>Automated Vulnerability Detection in Source Code Using Deep Representation Learning, </a:t>
            </a:r>
            <a:r>
              <a:rPr lang="en-US" altLang="en-US" dirty="0">
                <a:latin typeface="Times New Roman" panose="02020603050405020304" pitchFamily="18" charset="0"/>
                <a:cs typeface="Times New Roman" panose="02020603050405020304" pitchFamily="18" charset="0"/>
              </a:rPr>
              <a:t>arXiv:2602.23121</a:t>
            </a:r>
            <a:r>
              <a:rPr lang="en-US" altLang="en-US" b="0" dirty="0">
                <a:latin typeface="Times New Roman" panose="02020603050405020304" pitchFamily="18" charset="0"/>
                <a:cs typeface="Times New Roman" panose="02020603050405020304" pitchFamily="18" charset="0"/>
              </a:rPr>
              <a:t>, Feb 2026. </a:t>
            </a:r>
          </a:p>
          <a:p>
            <a:pPr lvl="0" algn="just" rtl="0" eaLnBrk="0" fontAlgn="base" hangingPunct="0">
              <a:spcBef>
                <a:spcPct val="0"/>
              </a:spcBef>
              <a:spcAft>
                <a:spcPct val="0"/>
              </a:spcAft>
            </a:pPr>
            <a:endParaRPr lang="en-US" altLang="en-US" b="0" dirty="0">
              <a:latin typeface="Times New Roman" panose="02020603050405020304" pitchFamily="18" charset="0"/>
              <a:cs typeface="Times New Roman" panose="02020603050405020304" pitchFamily="18" charset="0"/>
            </a:endParaRPr>
          </a:p>
          <a:p>
            <a:pPr marL="342900" lvl="0" indent="-342900" algn="just" rtl="0" eaLnBrk="0" fontAlgn="base" hangingPunct="0">
              <a:spcBef>
                <a:spcPct val="0"/>
              </a:spcBef>
              <a:spcAft>
                <a:spcPct val="0"/>
              </a:spcAft>
              <a:buFont typeface="Wingdings" panose="05000000000000000000" pitchFamily="2" charset="2"/>
              <a:buChar char="§"/>
            </a:pPr>
            <a:r>
              <a:rPr lang="en-US" altLang="en-US" b="0" dirty="0">
                <a:latin typeface="Times New Roman" panose="02020603050405020304" pitchFamily="18" charset="0"/>
                <a:cs typeface="Times New Roman" panose="02020603050405020304" pitchFamily="18" charset="0"/>
              </a:rPr>
              <a:t>LLM Agentic Workflow for Automated Vulnerability Detection and Remediation, </a:t>
            </a:r>
            <a:r>
              <a:rPr lang="en-US" altLang="en-US" dirty="0">
                <a:latin typeface="Times New Roman" panose="02020603050405020304" pitchFamily="18" charset="0"/>
                <a:cs typeface="Times New Roman" panose="02020603050405020304" pitchFamily="18" charset="0"/>
              </a:rPr>
              <a:t>IEEE Access</a:t>
            </a:r>
            <a:r>
              <a:rPr lang="en-US" altLang="en-US" b="0" dirty="0">
                <a:latin typeface="Times New Roman" panose="02020603050405020304" pitchFamily="18" charset="0"/>
                <a:cs typeface="Times New Roman" panose="02020603050405020304" pitchFamily="18" charset="0"/>
              </a:rPr>
              <a:t>, Jan 2025.</a:t>
            </a:r>
          </a:p>
          <a:p>
            <a:pPr lvl="0" algn="just" rtl="0" eaLnBrk="0" fontAlgn="base" hangingPunct="0">
              <a:spcBef>
                <a:spcPct val="0"/>
              </a:spcBef>
              <a:spcAft>
                <a:spcPct val="0"/>
              </a:spcAft>
            </a:pPr>
            <a:endParaRPr lang="en-US" altLang="en-US" b="0" dirty="0">
              <a:latin typeface="Times New Roman" panose="02020603050405020304" pitchFamily="18" charset="0"/>
              <a:cs typeface="Times New Roman" panose="02020603050405020304" pitchFamily="18" charset="0"/>
            </a:endParaRPr>
          </a:p>
          <a:p>
            <a:pPr marL="342900" lvl="0" indent="-342900" algn="just" rtl="0" eaLnBrk="0" fontAlgn="base" hangingPunct="0">
              <a:spcBef>
                <a:spcPct val="0"/>
              </a:spcBef>
              <a:spcAft>
                <a:spcPct val="0"/>
              </a:spcAft>
              <a:buFont typeface="Wingdings" panose="05000000000000000000" pitchFamily="2" charset="2"/>
              <a:buChar char="§"/>
            </a:pPr>
            <a:r>
              <a:rPr lang="en-US" altLang="en-US" b="0" dirty="0">
                <a:latin typeface="Times New Roman" panose="02020603050405020304" pitchFamily="18" charset="0"/>
                <a:cs typeface="Times New Roman" panose="02020603050405020304" pitchFamily="18" charset="0"/>
              </a:rPr>
              <a:t>Enhancing Graph-Based Vulnerability Detection through Standardized Pipelines, </a:t>
            </a:r>
            <a:r>
              <a:rPr lang="en-US" altLang="en-US" dirty="0">
                <a:latin typeface="Times New Roman" panose="02020603050405020304" pitchFamily="18" charset="0"/>
                <a:cs typeface="Times New Roman" panose="02020603050405020304" pitchFamily="18" charset="0"/>
              </a:rPr>
              <a:t>IEEE Xplore</a:t>
            </a:r>
            <a:r>
              <a:rPr lang="en-US" altLang="en-US" b="0" dirty="0">
                <a:latin typeface="Times New Roman" panose="02020603050405020304" pitchFamily="18" charset="0"/>
                <a:cs typeface="Times New Roman" panose="02020603050405020304" pitchFamily="18" charset="0"/>
              </a:rPr>
              <a:t>, Dec 2024.</a:t>
            </a:r>
          </a:p>
          <a:p>
            <a:pPr lvl="0" algn="just" rtl="0" eaLnBrk="0" fontAlgn="base" hangingPunct="0">
              <a:spcBef>
                <a:spcPct val="0"/>
              </a:spcBef>
              <a:spcAft>
                <a:spcPct val="0"/>
              </a:spcAft>
            </a:pPr>
            <a:endParaRPr lang="en-US" altLang="en-US" b="0" dirty="0">
              <a:latin typeface="Times New Roman" panose="02020603050405020304" pitchFamily="18" charset="0"/>
              <a:cs typeface="Times New Roman" panose="02020603050405020304" pitchFamily="18" charset="0"/>
            </a:endParaRPr>
          </a:p>
          <a:p>
            <a:pPr marL="342900" lvl="0" indent="-342900" algn="just" rtl="0" eaLnBrk="0" fontAlgn="base" hangingPunct="0">
              <a:spcBef>
                <a:spcPct val="0"/>
              </a:spcBef>
              <a:spcAft>
                <a:spcPct val="0"/>
              </a:spcAft>
              <a:buFont typeface="Wingdings" panose="05000000000000000000" pitchFamily="2" charset="2"/>
              <a:buChar char="§"/>
            </a:pPr>
            <a:r>
              <a:rPr lang="en-US" altLang="en-US" b="0" dirty="0">
                <a:latin typeface="Times New Roman" panose="02020603050405020304" pitchFamily="18" charset="0"/>
                <a:cs typeface="Times New Roman" panose="02020603050405020304" pitchFamily="18" charset="0"/>
              </a:rPr>
              <a:t>A Survey on Large Language Models in Software Security, </a:t>
            </a:r>
            <a:r>
              <a:rPr lang="en-US" altLang="en-US" dirty="0">
                <a:latin typeface="Times New Roman" panose="02020603050405020304" pitchFamily="18" charset="0"/>
                <a:cs typeface="Times New Roman" panose="02020603050405020304" pitchFamily="18" charset="0"/>
              </a:rPr>
              <a:t>MDPI</a:t>
            </a:r>
            <a:r>
              <a:rPr lang="en-US" altLang="en-US" b="0" dirty="0">
                <a:latin typeface="Times New Roman" panose="02020603050405020304" pitchFamily="18" charset="0"/>
                <a:cs typeface="Times New Roman" panose="02020603050405020304" pitchFamily="18" charset="0"/>
              </a:rPr>
              <a:t>, April 2026.</a:t>
            </a:r>
          </a:p>
          <a:p>
            <a:pPr lvl="0" algn="just" rtl="0" eaLnBrk="0" fontAlgn="base" hangingPunct="0">
              <a:spcBef>
                <a:spcPct val="0"/>
              </a:spcBef>
              <a:spcAft>
                <a:spcPct val="0"/>
              </a:spcAft>
            </a:pPr>
            <a:endParaRPr lang="en-US" altLang="en-US" b="0" dirty="0">
              <a:latin typeface="Times New Roman" panose="02020603050405020304" pitchFamily="18" charset="0"/>
              <a:cs typeface="Times New Roman" panose="02020603050405020304" pitchFamily="18" charset="0"/>
            </a:endParaRPr>
          </a:p>
          <a:p>
            <a:pPr marL="342900" lvl="0" indent="-342900" algn="just" rtl="0" eaLnBrk="0" fontAlgn="base" hangingPunct="0">
              <a:spcBef>
                <a:spcPct val="0"/>
              </a:spcBef>
              <a:spcAft>
                <a:spcPct val="0"/>
              </a:spcAft>
              <a:buFont typeface="Wingdings" panose="05000000000000000000" pitchFamily="2" charset="2"/>
              <a:buChar char="§"/>
            </a:pPr>
            <a:r>
              <a:rPr lang="en-US" altLang="en-US" b="0" dirty="0">
                <a:latin typeface="Times New Roman" panose="02020603050405020304" pitchFamily="18" charset="0"/>
                <a:cs typeface="Times New Roman" panose="02020603050405020304" pitchFamily="18" charset="0"/>
              </a:rPr>
              <a:t>Vibe Coding Security: Risks and Best Practices, </a:t>
            </a:r>
            <a:r>
              <a:rPr lang="en-US" altLang="en-US" dirty="0" err="1">
                <a:latin typeface="Times New Roman" panose="02020603050405020304" pitchFamily="18" charset="0"/>
                <a:cs typeface="Times New Roman" panose="02020603050405020304" pitchFamily="18" charset="0"/>
              </a:rPr>
              <a:t>Hostinger</a:t>
            </a:r>
            <a:r>
              <a:rPr lang="en-US" altLang="en-US" dirty="0">
                <a:latin typeface="Times New Roman" panose="02020603050405020304" pitchFamily="18" charset="0"/>
                <a:cs typeface="Times New Roman" panose="02020603050405020304" pitchFamily="18" charset="0"/>
              </a:rPr>
              <a:t>/</a:t>
            </a:r>
            <a:r>
              <a:rPr lang="en-US" altLang="en-US" dirty="0" err="1">
                <a:latin typeface="Times New Roman" panose="02020603050405020304" pitchFamily="18" charset="0"/>
                <a:cs typeface="Times New Roman" panose="02020603050405020304" pitchFamily="18" charset="0"/>
              </a:rPr>
              <a:t>SimonRoses</a:t>
            </a:r>
            <a:r>
              <a:rPr lang="en-US" altLang="en-US" b="0" dirty="0">
                <a:latin typeface="Times New Roman" panose="02020603050405020304" pitchFamily="18" charset="0"/>
                <a:cs typeface="Times New Roman" panose="02020603050405020304" pitchFamily="18" charset="0"/>
              </a:rPr>
              <a:t>, April 2026.</a:t>
            </a:r>
          </a:p>
          <a:p>
            <a:pPr marL="342900" indent="-342900" algn="l" rtl="0">
              <a:buFont typeface="Wingdings" panose="05000000000000000000" pitchFamily="2" charset="2"/>
              <a:buChar char="§"/>
            </a:pPr>
            <a:endParaRPr lang="en-US" altLang="en-US" b="0" dirty="0">
              <a:latin typeface="Times New Roman" panose="02020603050405020304" pitchFamily="18" charset="0"/>
              <a:cs typeface="Times New Roman" panose="02020603050405020304" pitchFamily="18" charset="0"/>
            </a:endParaRPr>
          </a:p>
          <a:p>
            <a:pPr algn="l" rtl="0"/>
            <a:endParaRPr lang="en-US" altLang="en-US" b="0" dirty="0">
              <a:latin typeface="Arial" panose="020B0604020202020204" pitchFamily="34" charset="0"/>
            </a:endParaRPr>
          </a:p>
          <a:p>
            <a:endParaRPr lang="en-IN" dirty="0"/>
          </a:p>
        </p:txBody>
      </p:sp>
    </p:spTree>
    <p:extLst>
      <p:ext uri="{BB962C8B-B14F-4D97-AF65-F5344CB8AC3E}">
        <p14:creationId xmlns:p14="http://schemas.microsoft.com/office/powerpoint/2010/main" val="1550155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8224" y="4800600"/>
            <a:ext cx="11650980" cy="1783080"/>
          </a:xfrm>
          <a:prstGeom prst="rect">
            <a:avLst/>
          </a:prstGeom>
        </p:spPr>
      </p:pic>
      <p:sp>
        <p:nvSpPr>
          <p:cNvPr id="3" name="object 3"/>
          <p:cNvSpPr txBox="1">
            <a:spLocks noGrp="1"/>
          </p:cNvSpPr>
          <p:nvPr>
            <p:ph type="title"/>
          </p:nvPr>
        </p:nvSpPr>
        <p:spPr>
          <a:xfrm>
            <a:off x="4089908" y="2767660"/>
            <a:ext cx="4458335" cy="1123315"/>
          </a:xfrm>
          <a:prstGeom prst="rect">
            <a:avLst/>
          </a:prstGeom>
        </p:spPr>
        <p:txBody>
          <a:bodyPr vert="horz" wrap="square" lIns="0" tIns="12700" rIns="0" bIns="0" rtlCol="0">
            <a:spAutoFit/>
          </a:bodyPr>
          <a:lstStyle/>
          <a:p>
            <a:pPr marL="12700">
              <a:lnSpc>
                <a:spcPct val="100000"/>
              </a:lnSpc>
              <a:spcBef>
                <a:spcPts val="100"/>
              </a:spcBef>
            </a:pPr>
            <a:r>
              <a:rPr sz="7200" i="1" spc="-55" dirty="0">
                <a:solidFill>
                  <a:srgbClr val="E00000"/>
                </a:solidFill>
                <a:latin typeface="Segoe UI"/>
                <a:cs typeface="Segoe UI"/>
              </a:rPr>
              <a:t>Thank</a:t>
            </a:r>
            <a:r>
              <a:rPr sz="7200" i="1" spc="-465" dirty="0">
                <a:solidFill>
                  <a:srgbClr val="E00000"/>
                </a:solidFill>
                <a:latin typeface="Segoe UI"/>
                <a:cs typeface="Segoe UI"/>
              </a:rPr>
              <a:t> </a:t>
            </a:r>
            <a:r>
              <a:rPr sz="7200" i="1" spc="-25" dirty="0">
                <a:solidFill>
                  <a:srgbClr val="E00000"/>
                </a:solidFill>
                <a:latin typeface="Segoe UI"/>
                <a:cs typeface="Segoe UI"/>
              </a:rPr>
              <a:t>you</a:t>
            </a:r>
            <a:endParaRPr sz="7200">
              <a:latin typeface="Segoe UI"/>
              <a:cs typeface="Segoe UI"/>
            </a:endParaRPr>
          </a:p>
        </p:txBody>
      </p:sp>
      <p:sp>
        <p:nvSpPr>
          <p:cNvPr id="4" name="object 4"/>
          <p:cNvSpPr txBox="1"/>
          <p:nvPr/>
        </p:nvSpPr>
        <p:spPr>
          <a:xfrm>
            <a:off x="347268" y="6584299"/>
            <a:ext cx="1918335" cy="222885"/>
          </a:xfrm>
          <a:prstGeom prst="rect">
            <a:avLst/>
          </a:prstGeom>
        </p:spPr>
        <p:txBody>
          <a:bodyPr vert="horz" wrap="square" lIns="0" tIns="0" rIns="0" bIns="0" rtlCol="0">
            <a:spAutoFit/>
          </a:bodyPr>
          <a:lstStyle/>
          <a:p>
            <a:pPr marL="12700">
              <a:lnSpc>
                <a:spcPts val="1630"/>
              </a:lnSpc>
            </a:pPr>
            <a:r>
              <a:rPr sz="1400" b="1" dirty="0">
                <a:solidFill>
                  <a:srgbClr val="D362D2"/>
                </a:solidFill>
                <a:latin typeface="Times New Roman"/>
                <a:cs typeface="Times New Roman"/>
              </a:rPr>
              <a:t>Project</a:t>
            </a:r>
            <a:r>
              <a:rPr sz="1400" b="1" spc="-15" dirty="0">
                <a:solidFill>
                  <a:srgbClr val="D362D2"/>
                </a:solidFill>
                <a:latin typeface="Times New Roman"/>
                <a:cs typeface="Times New Roman"/>
              </a:rPr>
              <a:t> </a:t>
            </a:r>
            <a:r>
              <a:rPr sz="1400" b="1" spc="-20" dirty="0">
                <a:solidFill>
                  <a:srgbClr val="D362D2"/>
                </a:solidFill>
                <a:latin typeface="Times New Roman"/>
                <a:cs typeface="Times New Roman"/>
              </a:rPr>
              <a:t>Idea</a:t>
            </a:r>
            <a:r>
              <a:rPr sz="1400" b="1" spc="-55" dirty="0">
                <a:solidFill>
                  <a:srgbClr val="D362D2"/>
                </a:solidFill>
                <a:latin typeface="Times New Roman"/>
                <a:cs typeface="Times New Roman"/>
              </a:rPr>
              <a:t> </a:t>
            </a:r>
            <a:r>
              <a:rPr sz="1400" b="1" spc="-20" dirty="0">
                <a:solidFill>
                  <a:srgbClr val="D362D2"/>
                </a:solidFill>
                <a:latin typeface="Times New Roman"/>
                <a:cs typeface="Times New Roman"/>
              </a:rPr>
              <a:t>Presentation</a:t>
            </a:r>
            <a:endParaRPr sz="1400">
              <a:latin typeface="Times New Roman"/>
              <a:cs typeface="Times New Roman"/>
            </a:endParaRPr>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630"/>
              </a:lnSpc>
            </a:pPr>
            <a:r>
              <a:rPr dirty="0"/>
              <a:t>2026-</a:t>
            </a:r>
            <a:r>
              <a:rPr spc="-20" dirty="0"/>
              <a:t>2027</a:t>
            </a: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87325">
              <a:lnSpc>
                <a:spcPts val="1630"/>
              </a:lnSpc>
            </a:pPr>
            <a:r>
              <a:rPr spc="-35" dirty="0"/>
              <a:t>Department</a:t>
            </a:r>
            <a:r>
              <a:rPr spc="-30" dirty="0"/>
              <a:t> </a:t>
            </a:r>
            <a:r>
              <a:rPr dirty="0"/>
              <a:t>of</a:t>
            </a:r>
            <a:r>
              <a:rPr spc="55" dirty="0"/>
              <a:t> </a:t>
            </a:r>
            <a:r>
              <a:rPr spc="-30" dirty="0"/>
              <a:t>Information</a:t>
            </a:r>
            <a:r>
              <a:rPr spc="-105" dirty="0"/>
              <a:t> </a:t>
            </a:r>
            <a:r>
              <a:rPr spc="-10" dirty="0"/>
              <a:t>Technology</a:t>
            </a:r>
          </a:p>
        </p:txBody>
      </p:sp>
      <p:sp>
        <p:nvSpPr>
          <p:cNvPr id="7" name="object 6">
            <a:extLst>
              <a:ext uri="{FF2B5EF4-FFF2-40B4-BE49-F238E27FC236}">
                <a16:creationId xmlns:a16="http://schemas.microsoft.com/office/drawing/2014/main" id="{B63DA77E-96E9-3F4D-8431-E9619B3512B8}"/>
              </a:ext>
            </a:extLst>
          </p:cNvPr>
          <p:cNvSpPr/>
          <p:nvPr/>
        </p:nvSpPr>
        <p:spPr>
          <a:xfrm>
            <a:off x="-12103" y="76339"/>
            <a:ext cx="271145" cy="6854825"/>
          </a:xfrm>
          <a:custGeom>
            <a:avLst/>
            <a:gdLst/>
            <a:ahLst/>
            <a:cxnLst/>
            <a:rect l="l" t="t" r="r" b="b"/>
            <a:pathLst>
              <a:path w="271145" h="6854825">
                <a:moveTo>
                  <a:pt x="270738" y="0"/>
                </a:moveTo>
                <a:lnTo>
                  <a:pt x="0" y="0"/>
                </a:lnTo>
                <a:lnTo>
                  <a:pt x="0" y="6854444"/>
                </a:lnTo>
                <a:lnTo>
                  <a:pt x="270738" y="6854444"/>
                </a:lnTo>
                <a:lnTo>
                  <a:pt x="270738" y="0"/>
                </a:lnTo>
                <a:close/>
              </a:path>
            </a:pathLst>
          </a:custGeom>
          <a:solidFill>
            <a:srgbClr val="FF5050"/>
          </a:solidFill>
        </p:spPr>
        <p:txBody>
          <a:bodyPr wrap="square" lIns="0" tIns="0" rIns="0" bIns="0" rtlCol="0"/>
          <a:lstStyle/>
          <a:p>
            <a:endParaRPr dirty="0"/>
          </a:p>
        </p:txBody>
      </p:sp>
      <p:pic>
        <p:nvPicPr>
          <p:cNvPr id="8" name="object 3">
            <a:extLst>
              <a:ext uri="{FF2B5EF4-FFF2-40B4-BE49-F238E27FC236}">
                <a16:creationId xmlns:a16="http://schemas.microsoft.com/office/drawing/2014/main" id="{043E4B9C-572C-FBDB-4B8C-5D31A2A18321}"/>
              </a:ext>
            </a:extLst>
          </p:cNvPr>
          <p:cNvPicPr/>
          <p:nvPr/>
        </p:nvPicPr>
        <p:blipFill>
          <a:blip r:embed="rId3" cstate="print"/>
          <a:stretch>
            <a:fillRect/>
          </a:stretch>
        </p:blipFill>
        <p:spPr>
          <a:xfrm>
            <a:off x="267681" y="76339"/>
            <a:ext cx="1027719" cy="11146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177</TotalTime>
  <Words>1220</Words>
  <Application>Microsoft Office PowerPoint</Application>
  <PresentationFormat>Widescreen</PresentationFormat>
  <Paragraphs>205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Segoe UI</vt:lpstr>
      <vt:lpstr>Times New Roman</vt:lpstr>
      <vt:lpstr>Wingdings</vt:lpstr>
      <vt:lpstr>Office Theme</vt:lpstr>
      <vt:lpstr>Sanjivani College of Engineering, Kopargaon-423603</vt:lpstr>
      <vt:lpstr>Content</vt:lpstr>
      <vt:lpstr>Problem Statement</vt:lpstr>
      <vt:lpstr>Abstract</vt:lpstr>
      <vt:lpstr>Introduction</vt:lpstr>
      <vt:lpstr>Objectives</vt:lpstr>
      <vt:lpstr>Literature Survey</vt:lpstr>
      <vt:lpstr>Methodology</vt:lpstr>
      <vt:lpstr>     Proposed System</vt:lpstr>
      <vt:lpstr>        Software Tools / Technologies to be Used</vt:lpstr>
      <vt:lpstr>    Relevant SDG’s</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Payal Shinde</dc:creator>
  <cp:lastModifiedBy>Payal Shinde</cp:lastModifiedBy>
  <cp:revision>13</cp:revision>
  <dcterms:created xsi:type="dcterms:W3CDTF">2026-04-20T15:38:11Z</dcterms:created>
  <dcterms:modified xsi:type="dcterms:W3CDTF">2026-07-03T13:38:06Z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2026-04-20T00:00:00Z</vt:filetime>
  </property>
  <property fmtid="{D5CDD505-2E9C-101B-9397-08002B2CF9AE}" pid="3" name="Creator">
    <vt:lpwstr>Microsoft® PowerPoint® 2016</vt:lpwstr>
  </property>
  <property fmtid="{D5CDD505-2E9C-101B-9397-08002B2CF9AE}" pid="4" name="LastSaved">
    <vt:filetime>2026-04-20T00:00:00Z</vt:filetime>
  </property>
  <property fmtid="{D5CDD505-2E9C-101B-9397-08002B2CF9AE}" pid="5" name="Producer">
    <vt:lpwstr>www.ilovepdf.com</vt:lpwstr>
  </property>
</Properties>
</file>